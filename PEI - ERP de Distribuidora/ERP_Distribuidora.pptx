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3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Cumprimente a turma, apresente os integrantes do grupo e diga o nome do projeto. Antes de apresentar, troque os campos entre colchetes (integrantes, disciplina, professor, instituição e data). Abertura sugerida: "Nosso projeto é um sistema em Python para gerenciar uma distribuidora: estoque, pedidos e histórico de ações. Ao longo dos slides vamos mostrar também as estruturas de dados e algoritmos que usamos."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rapidamente o problema que o sistema resolve: uma distribuidora precisa saber o que tem em estoque, quais pedidos chegaram e qual deve ser entregue primeiro. O sistema reúne tudo isso em um único programa: produtos e estoque, pedidos, prioridade, processamento (que dá baixa no estoque), histórico de ações e busca de produtos.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operações principais do estoque: cadastrar, remover, visualizar e ordenar. No cadastro, o programa lê código, nome, quantidade e preço, monta uma lista com esses valores e a adiciona ao estoque com append. Fala sugerida: "Cada produto é armazenado em uma lista e essa lista é adicionada ao estoque." A função também devolve o produto, que o menu usa para registrar a ação no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usar a busca binária, o estoque precisa estar ordenado pelo código do produto. Para isso usamos o Bubble Sort: o laço de fora controla quantas passagens serão feitas, o laço de dentro compara pares vizinhos, e se o código da esquerda for maior que o da direita os dois trocam de posição. Exemplo com [300, 100, 200]: na primeira comparação 300 e 100 trocam; depois 300 e 200 trocam; o maior código vai para o fim da lista. A cada passagem o próximo maior vai para o seu lugar. Observação: o Bubble Sort é simples de entender, mas tem custo O(n²), então para estoques muito grandes existiriam algoritmos melhores.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menu, a opção 7 primeiro ordena o estoque pelo código (Bubble Sort) e só depois faz a busca binária. A busca olha o elemento do meio: se for o código procurado, termina; se o código procurado for maior, descarta a metade da esquerda (inicio = meio + 1); se for menor, descarta a metade da direita (fim = meio - 1). Exemplo no estoque [100, 200, 300, 400, 500] procurando 400: no passo 1, meio = 2 e o valor é 300, então a busca continua à direita; no passo 2, meio = (3 + 4) // 2 = 3 e o valor é 400, encontrado. Fala sugerida: "Antes de realizar a busca binária, o estoque é ordenado pelo código do produto. Depois disso, a busca binária reduz o espaço de procura pela metade a cada comparação." Dica: o "//" faz divisão inteira, descartando a parte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uma das partes mais importantes do projeto. Os pedidos ficam guardados em uma lista comum, mas ao processar o sistema procura o pedido com o menor número de prioridade (1 = alta, 2 = média, 3 = baixa). O laço percorre a lista guardando o índice do melhor candidato; só troca quando encontra uma prioridade estritamente menor. Isso significa que, entre pedidos com a mesma prioridade, o mais antigo sai primeiro. No exemplo, o Pedido 2 foi cadastrado depois do Pedido 1, mas como tem prioridade 1 ele é processado antes. Observação: a procura percorre toda a lista a cada vez, então o custo é O(n); uma estrutura como heap faria isso de forma mais eficiente em listas muito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 fluxo de cima para baixo: o pedido é cadastrado, o sistema verifica as prioridades, seleciona o pedido prioritário, confere se o produto existe no estoque, diminui a quantidade e remove o pedido da fila. As duas linhas de código que fazem isso são a subtração da quantidade (produto[2] = produto[2] - pedido[3]) e o pop na lista de pedidos. Explique que o estoque é atualizado quando o pedido é processado, não quando é cadastrado: no cadastro o sistema apenas confere se a quantidade pedida está disponível. Exemplo: o produto 101 (Teclado) tinha 20 unidades; o pedido de 2 unidades deixa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mostra o conceito de pilha. Cada ação feita no menu (cadastrar produto, remover produto, cadastrar pedido, processar pedido) é registrada no histórico com append, que coloca a ação no topo. Para remover, usamos pop, que tira justamente a última ação inserida. Fala sugerida: "O histórico utiliza o conceito LIFO, Last In, First Out. A última ação registrada é a primeira a ser removida." Na figura, processar_pedido é a última ação e por isso está no topo,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usuário escolhe desfazer, a função confere se o histórico está vazio; se estiver, avisa que não há ações para desfazer. Caso contrário, usa pop(), que remove o último elemento da lista. Fala sugerida: "Quando o usuário escolhe desfazer, utilizamos o pop(), que remove o último elemento da lista. Dessa forma, demonstramos o funcionamento de uma pilha." Se o professor perguntar: nesta versão o desfazer remove o registro do topo do histórico e mostra qual ação foi removida; reverter também o efeito da ação no estoque (por exemplo, devolver a quantidade de um pedido processado) é uma evolução natural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análise de complexidade mostra como o número de operações cresce conforme aumenta a quantidade de registros. Cadastro com append e as operações da pilha (append e pop) são O(1) nos dois casos. Remoção por busca de código: no melhor caso o produto está no primeiro registro, O(1); no pior caso é preciso percorrer a lista, O(n). Busca binária: melhor caso O(1), quando o elemento está exatamente no meio; pior caso O(log n), com sucessivas divisões do intervalo; exige a lista ordenada. Bubble Sort: O(n²) nos dois casos, porque a implementação atual executa todas as passagens completas, mesmo que o estoque já esteja ordenado. Fila de prioridade: O(n), porque a função percorre todos os pedidos para encontrar a maior prioridade. A escolha desses algoritmos foi feita principalmente para demonstrar os conceitos exigidos na disciplina, mantendo a implementação manual.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o que o projeto aplica: listas para guardar os dados, Bubble Sort para ordenar o estoque, busca binária para localizar produtos, uma fila com prioridade para decidir qual pedido processar primeiro e uma pilha para o histórico de ações. Mencione os próximos passos: fazer o desfazer reverter também o estoque, validar as entradas do usuário e gravar os dados em arquivo para não perdê-los ao fechar o programa. Agradeça e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2080"/>
            <a:ext cx="10566400" cy="416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2080"/>
            <a:ext cx="10566400" cy="416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9350" y="1085850"/>
            <a:ext cx="2603500" cy="2603500"/>
          </a:xfrm>
          <a:prstGeom prst="roundRect">
            <a:avLst>
              <a:gd name="adj" fmla="val 13415"/>
            </a:avLst>
          </a:prstGeom>
          <a:gradFill rotWithShape="1">
            <a:gsLst>
              <a:gs pos="0">
                <a:srgbClr val="1F6F66"/>
              </a:gs>
              <a:gs pos="100000">
                <a:srgbClr val="16263D"/>
              </a:gs>
            </a:gsLst>
            <a:lin ang="2700000" scaled="0"/>
          </a:gradFill>
          <a:ln w="1270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45600" y="1562100"/>
            <a:ext cx="1651000" cy="165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PROJETO ACADÊMICO · PYTHON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1473895"/>
            <a:ext cx="7717790" cy="202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000" b="1" i="0" kern="0" spc="-1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 de Gerenciamento de Distribuidora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12800" y="3677345"/>
            <a:ext cx="771779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em Python: estoque, pedidos e histórico de ações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9150" y="4206875"/>
            <a:ext cx="785912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19362" y="4206875"/>
            <a:ext cx="1247874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Bubble Sort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81536" y="4206875"/>
            <a:ext cx="1389360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binária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85196" y="4206875"/>
            <a:ext cx="1704181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Fila de prioridade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3677" y="4206875"/>
            <a:ext cx="1212354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Pilha (LIFO)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2800" y="5038130"/>
            <a:ext cx="10566400" cy="0"/>
          </a:xfrm>
          <a:prstGeom prst="line">
            <a:avLst/>
          </a:prstGeom>
          <a:noFill/>
          <a:ln w="1270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05431" y="5247322"/>
            <a:ext cx="1925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431" y="5511799"/>
            <a:ext cx="2844800" cy="1172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Luan Gabriel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João Araujo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João Marino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Matheus Marino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776216" y="5247322"/>
            <a:ext cx="1925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DISCIPLINA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76216" y="5511799"/>
            <a:ext cx="2174280" cy="604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Algoritmo</a:t>
            </a: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pt-BR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Dados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95170" y="5247680"/>
            <a:ext cx="1925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95170" y="5498920"/>
            <a:ext cx="21741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Júlio César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61005" y="5247680"/>
            <a:ext cx="1925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INSTITUIÇÃO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61005" y="5511800"/>
            <a:ext cx="192556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UNIFAN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366268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do sistema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280841"/>
            <a:ext cx="3662680" cy="153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programa em Python para organizar o dia a dia de uma distribuidora: o que há no estoque, quem pediu o quê e o que entregar primeiro.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78375" y="815975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4750" y="1022350"/>
            <a:ext cx="279400" cy="27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65750" y="1040110"/>
            <a:ext cx="232933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Produtos e estoque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84750" y="1377950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Cadastro, remoção e consulta dos itens disponíveis.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56575" y="815975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62950" y="1022350"/>
            <a:ext cx="279400" cy="279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43950" y="1040110"/>
            <a:ext cx="9550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62950" y="1377950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 do cliente, do produto e da quantidade.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78375" y="2205236"/>
            <a:ext cx="3219450" cy="1438672"/>
          </a:xfrm>
          <a:prstGeom prst="roundRect">
            <a:avLst>
              <a:gd name="adj" fmla="val 8607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St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84750" y="2411611"/>
            <a:ext cx="279400" cy="279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5750" y="2429371"/>
            <a:ext cx="26289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de pedidos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84750" y="2767211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Alta, média ou baixa define a ordem de entrega.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6575" y="2205236"/>
            <a:ext cx="3219450" cy="1438672"/>
          </a:xfrm>
          <a:prstGeom prst="roundRect">
            <a:avLst>
              <a:gd name="adj" fmla="val 8607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Lightning"/>
          <p:cNvPicPr>
            <a:picLocks noChangeAspect="1"/>
          </p:cNvPicPr>
          <p:nvPr/>
        </p:nvPicPr>
        <p:blipFill>
          <a:blip r:embed="rId6"/>
          <a:srcRect t="-394" b="-394"/>
          <a:stretch/>
        </p:blipFill>
        <p:spPr>
          <a:xfrm>
            <a:off x="8362950" y="2515691"/>
            <a:ext cx="252016" cy="279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16566" y="2411611"/>
            <a:ext cx="2526677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Processamento de pedidos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62950" y="2975372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Baixa automática da quantidade no estoque.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778375" y="3802658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4" descr="Clo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84750" y="4009033"/>
            <a:ext cx="279400" cy="279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5750" y="4026793"/>
            <a:ext cx="22188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 de ações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984750" y="4364633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ação fica registrada e pode ser desfeita.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56575" y="3802658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5" descr="Search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2950" y="4009033"/>
            <a:ext cx="279400" cy="2794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43950" y="4026793"/>
            <a:ext cx="224444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de produtos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362950" y="4364633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Localização rápida de um produto pelo código.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ESTOQUE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e controle do estoque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2459236"/>
            <a:ext cx="4445000" cy="0"/>
          </a:xfrm>
          <a:prstGeom prst="line">
            <a:avLst/>
          </a:prstGeom>
          <a:noFill/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4042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1831280"/>
            <a:ext cx="232231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 produto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19200" y="2115741"/>
            <a:ext cx="199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cadastrar_produto()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2800" y="3217366"/>
            <a:ext cx="4445000" cy="0"/>
          </a:xfrm>
          <a:prstGeom prst="line">
            <a:avLst/>
          </a:prstGeom>
          <a:noFill/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Too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698552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9200" y="2589411"/>
            <a:ext cx="216443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Remover produto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19200" y="2873871"/>
            <a:ext cx="18578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remover_produto()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2800" y="3975497"/>
            <a:ext cx="4445000" cy="0"/>
          </a:xfrm>
          <a:prstGeom prst="line">
            <a:avLst/>
          </a:prstGeom>
          <a:noFill/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456682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9200" y="3347541"/>
            <a:ext cx="228659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Visualizar estoque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19200" y="3632002"/>
            <a:ext cx="19626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ver_estoque()</a:t>
            </a:r>
            <a:endParaRPr lang="en-US" sz="1200" dirty="0"/>
          </a:p>
        </p:txBody>
      </p:sp>
      <p:pic>
        <p:nvPicPr>
          <p:cNvPr id="16" name="Image 3" descr="Setting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" y="4214813"/>
            <a:ext cx="279400" cy="279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19200" y="4105672"/>
            <a:ext cx="22409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Ordenar produtos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219200" y="4390132"/>
            <a:ext cx="1923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ordenar_estoque()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667375" y="1834455"/>
            <a:ext cx="5708650" cy="2398514"/>
          </a:xfrm>
          <a:prstGeom prst="roundRect">
            <a:avLst>
              <a:gd name="adj" fmla="val 5163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5924550" y="2066230"/>
            <a:ext cx="5350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erp_distribuidora.py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24550" y="2317651"/>
            <a:ext cx="53501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F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cadastrar_produto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(estoque):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78550" y="2604591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codigo = int(input(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"Código do produto: 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178550" y="2891532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...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178550" y="3178473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produto = [codigo, nome, quantidade, preco]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178550" y="3465413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estoque.append(produto)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178550" y="3752354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produto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683250" y="4413945"/>
            <a:ext cx="0" cy="56892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5854700" y="4413945"/>
            <a:ext cx="56902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produto é armazenado em uma lista e essa lista é adicionada ao estoque.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402F08FC-202C-CC42-6026-74E5136BEB4A}"/>
              </a:ext>
            </a:extLst>
          </p:cNvPr>
          <p:cNvSpPr/>
          <p:nvPr/>
        </p:nvSpPr>
        <p:spPr>
          <a:xfrm>
            <a:off x="1022349" y="5049536"/>
            <a:ext cx="8752715" cy="990501"/>
          </a:xfrm>
          <a:prstGeom prst="roundRect">
            <a:avLst>
              <a:gd name="adj" fmla="val 3467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Ordenação com Bubble Sort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705600" y="1831280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passagem com os códigos [300, 100, 200]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600" y="22109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Início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5600" y="24725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 original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9350" y="21753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69450" y="21753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69550" y="21753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05600" y="28586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 = 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05600" y="31202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300 &gt; 100: troca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69350" y="28230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69450" y="28230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69550" y="28230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05600" y="35063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 = 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05600" y="37679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300 &gt; 200: troca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69350" y="34707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69450" y="34707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369550" y="34707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05600" y="41540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Fim da passagem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05600" y="44156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maior código no fim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69350" y="41184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0B6E60"/>
          </a:solidFill>
          <a:ln w="12700">
            <a:solidFill>
              <a:srgbClr val="0B6E60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69450" y="41184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0B6E60"/>
          </a:solidFill>
          <a:ln w="12700">
            <a:solidFill>
              <a:srgbClr val="0B6E60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69550" y="41184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0B6E60"/>
          </a:solidFill>
          <a:ln w="12700">
            <a:solidFill>
              <a:srgbClr val="0B6E60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97656" y="5285647"/>
            <a:ext cx="84774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Compara vizinhos e troca os que estão fora de ordem, até o estoque ficar ordenado pelo código.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11</a:t>
            </a:r>
            <a:endParaRPr lang="en-US" sz="120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589D8AD1-116F-21AC-A072-457C3942C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5" y="2455960"/>
            <a:ext cx="6407802" cy="1361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binária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4455"/>
            <a:ext cx="5073650" cy="3571677"/>
          </a:xfrm>
          <a:prstGeom prst="roundRect">
            <a:avLst>
              <a:gd name="adj" fmla="val 3467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3150" y="206623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buscar_produto()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317651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inicio =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2604591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fim = len(estoque) - 1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3150" y="2891532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inicio &lt;= fim: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3150" y="3178473"/>
            <a:ext cx="4559300" cy="274241"/>
          </a:xfrm>
          <a:prstGeom prst="roundRect">
            <a:avLst>
              <a:gd name="adj" fmla="val 18524"/>
            </a:avLst>
          </a:prstGeom>
          <a:solidFill>
            <a:srgbClr val="F2A541">
              <a:alpha val="18000"/>
            </a:srgbClr>
          </a:solidFill>
          <a:ln/>
        </p:spPr>
        <p:txBody>
          <a:bodyPr wrap="square" lIns="315321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meio = (inicio + fim) //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7150" y="3490813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codigo_busca == estoque[meio][0]: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150" y="3777754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"Produto encontrado!"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7150" y="4064695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codigo_busca &gt; estoque[meio][0]: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1150" y="4351635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inicio = meio + 1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7150" y="4638576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codigo_busca &lt; estoque[meio][0]: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81150" y="4925516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fim = meio - 1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9200" y="1831280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Passo 1 · buscando o código 400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99200" y="217418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inicio = 0 · fim = 4 · meio = 2 → 300 &lt; 400, então inicio =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55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64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73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582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091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9200" y="3141861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Passo 2 · faixa reduzida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9200" y="3484761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inicio = 3 · fim = 4 · meio = 3 → 400: produto encontrado!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55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>
              <a:alpha val="35000"/>
            </a:srgbClr>
          </a:solidFill>
          <a:ln w="12700">
            <a:solidFill>
              <a:srgbClr val="2A3F5E">
                <a:alpha val="35000"/>
              </a:srgbClr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>
                    <a:alpha val="3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564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>
              <a:alpha val="35000"/>
            </a:srgbClr>
          </a:solidFill>
          <a:ln w="12700">
            <a:solidFill>
              <a:srgbClr val="2A3F5E">
                <a:alpha val="35000"/>
              </a:srgbClr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>
                    <a:alpha val="3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073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>
              <a:alpha val="35000"/>
            </a:srgbClr>
          </a:solidFill>
          <a:ln w="12700">
            <a:solidFill>
              <a:srgbClr val="2A3F5E">
                <a:alpha val="35000"/>
              </a:srgbClr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>
                    <a:alpha val="3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582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091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8250" y="4452441"/>
            <a:ext cx="0" cy="80010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89700" y="4452441"/>
            <a:ext cx="503618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 da busca, o estoque é ordenado pelo código. A cada comparação, o espaço de procura cai pela metade: complexidade O(log n).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Fila de pedidos com prioridade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83655"/>
            <a:ext cx="4057650" cy="463550"/>
          </a:xfrm>
          <a:prstGeom prst="roundRect">
            <a:avLst>
              <a:gd name="adj" fmla="val 2123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9950" y="18376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6200" y="0"/>
                </a:moveTo>
                <a:lnTo>
                  <a:pt x="279400" y="0"/>
                </a:lnTo>
                <a:arcTo wR="76200" hR="76200" stAng="16200000" swAng="5400000"/>
                <a:lnTo>
                  <a:pt x="355600" y="279400"/>
                </a:lnTo>
                <a:arcTo wR="76200" hR="76200" stAng="0" swAng="5400000"/>
                <a:lnTo>
                  <a:pt x="76200" y="3556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2550" y="1873151"/>
            <a:ext cx="271355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</a:t>
            </a:r>
            <a:r>
              <a:rPr lang="en-US" sz="16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processa primeiro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5975" y="2329755"/>
            <a:ext cx="4057650" cy="463550"/>
          </a:xfrm>
          <a:prstGeom prst="roundRect">
            <a:avLst>
              <a:gd name="adj" fmla="val 2123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9950" y="23837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6200" y="0"/>
                </a:moveTo>
                <a:lnTo>
                  <a:pt x="279400" y="0"/>
                </a:lnTo>
                <a:arcTo wR="76200" hR="76200" stAng="16200000" swAng="5400000"/>
                <a:lnTo>
                  <a:pt x="355600" y="279400"/>
                </a:lnTo>
                <a:arcTo wR="76200" hR="76200" stAng="0" swAng="5400000"/>
                <a:lnTo>
                  <a:pt x="76200" y="3556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F6CC8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2550" y="2419251"/>
            <a:ext cx="33142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Média</a:t>
            </a:r>
            <a:r>
              <a:rPr lang="en-US" sz="16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processa em seguida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2875855"/>
            <a:ext cx="4057650" cy="463550"/>
          </a:xfrm>
          <a:prstGeom prst="roundRect">
            <a:avLst>
              <a:gd name="adj" fmla="val 2123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9950" y="29298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6200" y="0"/>
                </a:moveTo>
                <a:lnTo>
                  <a:pt x="279400" y="0"/>
                </a:lnTo>
                <a:arcTo wR="76200" hR="76200" stAng="16200000" swAng="5400000"/>
                <a:lnTo>
                  <a:pt x="355600" y="279400"/>
                </a:lnTo>
                <a:arcTo wR="76200" hR="76200" stAng="0" swAng="5400000"/>
                <a:lnTo>
                  <a:pt x="76200" y="3556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E3DDC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2550" y="2965351"/>
            <a:ext cx="30877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Baixa</a:t>
            </a:r>
            <a:r>
              <a:rPr lang="en-US" sz="16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processa por último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1600" y="1780480"/>
            <a:ext cx="6197600" cy="1747242"/>
          </a:xfrm>
          <a:prstGeom prst="roundRect">
            <a:avLst>
              <a:gd name="adj" fmla="val 7269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35600" y="200908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pedidos_prioridade()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35600" y="2260501"/>
            <a:ext cx="58602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indice_prioridade = 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35600" y="2529681"/>
            <a:ext cx="58602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indice, pedido </a:t>
            </a:r>
            <a:r>
              <a:rPr lang="en-US" sz="13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enumerate(pedidos):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89600" y="2798862"/>
            <a:ext cx="559866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pedido[4] &lt; pedidos[indice_prioridade][4]: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3068042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indice_prioridade = indice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373092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Exemplo: pedidos na ordem em que foram cadastrados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150" y="4044553"/>
            <a:ext cx="3407767" cy="739080"/>
          </a:xfrm>
          <a:prstGeom prst="roundRect">
            <a:avLst>
              <a:gd name="adj" fmla="val 12888"/>
            </a:avLst>
          </a:pr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77900" y="4152503"/>
            <a:ext cx="31829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1 · Luan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7900" y="4444603"/>
            <a:ext cx="31829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3 (baixa)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92017" y="4044553"/>
            <a:ext cx="3407866" cy="739080"/>
          </a:xfrm>
          <a:prstGeom prst="roundRect">
            <a:avLst>
              <a:gd name="adj" fmla="val 1288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50767" y="4152503"/>
            <a:ext cx="31830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2 · Marina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50767" y="4444603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1 (alta) · sai primeiro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64984" y="4044553"/>
            <a:ext cx="3407866" cy="739080"/>
          </a:xfrm>
          <a:prstGeom prst="roundRect">
            <a:avLst>
              <a:gd name="adj" fmla="val 12888"/>
            </a:avLst>
          </a:pr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123734" y="4152503"/>
            <a:ext cx="31830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3 · Caio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23734" y="4444603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2 (média)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1850" y="4993184"/>
            <a:ext cx="0" cy="533400"/>
          </a:xfrm>
          <a:prstGeom prst="line">
            <a:avLst/>
          </a:prstGeom>
          <a:noFill/>
          <a:ln w="38100">
            <a:solidFill>
              <a:srgbClr val="0B6E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03300" y="4993184"/>
            <a:ext cx="106871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Apesar de os pedidos serem armazenados em uma lista, o processamento considera a prioridade: o pedido de prioridade 1 é processado antes do 2 e do 3.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11</a:t>
            </a:r>
            <a:endParaRPr lang="en-US" sz="1200" dirty="0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21B1F7BB-6B5B-B05E-74C9-F0BB582CF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551447"/>
            <a:ext cx="6197600" cy="2393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Processamento do pedido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831280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12800" y="1831280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52500" y="19099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8900" y="1907480"/>
            <a:ext cx="213729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cadastrado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33164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12800" y="233164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52500" y="24103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58900" y="2407841"/>
            <a:ext cx="20804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 prioridade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283200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2800" y="283200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2500" y="291068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8900" y="2908201"/>
            <a:ext cx="313408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Seleciona pedido prioritário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333236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12800" y="333236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2500" y="341104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8900" y="3408561"/>
            <a:ext cx="31587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 produto no estoque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" y="383272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2800" y="383272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2500" y="391140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8900" y="3908921"/>
            <a:ext cx="22014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Diminui quantidade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" y="433308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2800" y="433308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52500" y="441176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58900" y="4409281"/>
            <a:ext cx="24972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pedido da fila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800" y="483344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2800" y="483344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52500" y="491212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0F1B2D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58900" y="4909641"/>
            <a:ext cx="22942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processado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65800" y="2189361"/>
            <a:ext cx="6250189" cy="2472928"/>
          </a:xfrm>
          <a:prstGeom prst="roundRect">
            <a:avLst>
              <a:gd name="adj" fmla="val 6786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045200" y="5081806"/>
            <a:ext cx="549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estoque só é atualizado quando o pedido é processado.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11</a:t>
            </a:r>
            <a:endParaRPr lang="en-US" sz="1200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199DAB9D-E9EA-4E8F-BE04-D4D19A0B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2519859"/>
            <a:ext cx="6197002" cy="1890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Pilha: histórico de ações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31280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TOPO · ÚLTIMA 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2144911"/>
            <a:ext cx="4432300" cy="546100"/>
          </a:xfrm>
          <a:custGeom>
            <a:avLst/>
            <a:gdLst/>
            <a:ahLst/>
            <a:cxnLst/>
            <a:rect l="l" t="t" r="r" b="b"/>
            <a:pathLst>
              <a:path w="4432300" h="546100">
                <a:moveTo>
                  <a:pt x="95250" y="0"/>
                </a:moveTo>
                <a:lnTo>
                  <a:pt x="4337050" y="0"/>
                </a:lnTo>
                <a:arcTo wR="95250" hR="95250" stAng="16200000" swAng="5400000"/>
                <a:lnTo>
                  <a:pt x="4432300" y="450850"/>
                </a:lnTo>
                <a:arcTo wR="95250" hR="95250" stAng="0" swAng="5400000"/>
                <a:lnTo>
                  <a:pt x="95250" y="546100"/>
                </a:lnTo>
                <a:arcTo wR="95250" hR="952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208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processar_pedido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9150" y="2779911"/>
            <a:ext cx="4432300" cy="546100"/>
          </a:xfrm>
          <a:custGeom>
            <a:avLst/>
            <a:gdLst/>
            <a:ahLst/>
            <a:cxnLst/>
            <a:rect l="l" t="t" r="r" b="b"/>
            <a:pathLst>
              <a:path w="4432300" h="546100">
                <a:moveTo>
                  <a:pt x="95250" y="0"/>
                </a:moveTo>
                <a:lnTo>
                  <a:pt x="4337050" y="0"/>
                </a:lnTo>
                <a:arcTo wR="95250" hR="95250" stAng="16200000" swAng="5400000"/>
                <a:lnTo>
                  <a:pt x="4432300" y="450850"/>
                </a:lnTo>
                <a:arcTo wR="95250" hR="95250" stAng="0" swAng="5400000"/>
                <a:lnTo>
                  <a:pt x="95250" y="546100"/>
                </a:lnTo>
                <a:arcTo wR="95250" hR="952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208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cadastrar_pedido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9150" y="3414911"/>
            <a:ext cx="4432300" cy="546100"/>
          </a:xfrm>
          <a:custGeom>
            <a:avLst/>
            <a:gdLst/>
            <a:ahLst/>
            <a:cxnLst/>
            <a:rect l="l" t="t" r="r" b="b"/>
            <a:pathLst>
              <a:path w="4432300" h="546100">
                <a:moveTo>
                  <a:pt x="95250" y="0"/>
                </a:moveTo>
                <a:lnTo>
                  <a:pt x="4337050" y="0"/>
                </a:lnTo>
                <a:arcTo wR="95250" hR="95250" stAng="16200000" swAng="5400000"/>
                <a:lnTo>
                  <a:pt x="4432300" y="450850"/>
                </a:lnTo>
                <a:arcTo wR="95250" hR="95250" stAng="0" swAng="5400000"/>
                <a:lnTo>
                  <a:pt x="95250" y="546100"/>
                </a:lnTo>
                <a:arcTo wR="95250" hR="952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208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cadastrar_produto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054282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· PRIMEIRA 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7375" y="1834455"/>
            <a:ext cx="5708650" cy="1136551"/>
          </a:xfrm>
          <a:prstGeom prst="roundRect">
            <a:avLst>
              <a:gd name="adj" fmla="val 10895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873750" y="2015430"/>
            <a:ext cx="54547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Empilhar (push): registra a 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7375" y="3104356"/>
            <a:ext cx="5708650" cy="1859497"/>
          </a:xfrm>
          <a:prstGeom prst="roundRect">
            <a:avLst>
              <a:gd name="adj" fmla="val 10895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873750" y="3285331"/>
            <a:ext cx="54547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Desempilhar (pop): remove a última 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84596" y="5064126"/>
            <a:ext cx="5715000" cy="1115020"/>
          </a:xfrm>
          <a:prstGeom prst="roundRect">
            <a:avLst>
              <a:gd name="adj" fmla="val 11390"/>
            </a:avLst>
          </a:prstGeom>
          <a:solidFill>
            <a:srgbClr val="0B6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60669" y="5101729"/>
            <a:ext cx="546785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LIFO · Last In, First Out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73750" y="5523834"/>
            <a:ext cx="54678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última ação registrada é a primeira a ser removida.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11</a:t>
            </a:r>
            <a:endParaRPr lang="en-US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4177048-0082-26D4-2E14-8187E749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2337259"/>
            <a:ext cx="2981741" cy="53347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1E57482-96DD-22A4-6C18-77C72AC65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50" y="3591612"/>
            <a:ext cx="3629532" cy="1219370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28DD6F9B-E119-8401-8A14-3A1128AF8A06}"/>
              </a:ext>
            </a:extLst>
          </p:cNvPr>
          <p:cNvSpPr/>
          <p:nvPr/>
        </p:nvSpPr>
        <p:spPr>
          <a:xfrm>
            <a:off x="128073" y="4642001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EXEMPLO NO CÓDIGO</a:t>
            </a:r>
            <a:endParaRPr lang="en-US" sz="13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CE93CE9-8D33-136D-C9AA-032BF9C4D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73" y="4928939"/>
            <a:ext cx="4982270" cy="790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Desfazer a última 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4455"/>
            <a:ext cx="5073650" cy="2423914"/>
          </a:xfrm>
          <a:prstGeom prst="roundRect">
            <a:avLst>
              <a:gd name="adj" fmla="val 5108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3150" y="206623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desfazer_acao()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317651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F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desfazer_acao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(historico):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7150" y="2604591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historico == []: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150" y="2891532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"Não há ações para desfazer"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7150" y="3178473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3150" y="3465413"/>
            <a:ext cx="4559300" cy="274241"/>
          </a:xfrm>
          <a:prstGeom prst="roundRect">
            <a:avLst>
              <a:gd name="adj" fmla="val 18524"/>
            </a:avLst>
          </a:prstGeom>
          <a:solidFill>
            <a:srgbClr val="F2A541">
              <a:alpha val="18000"/>
            </a:srgbClr>
          </a:solidFill>
          <a:ln/>
        </p:spPr>
        <p:txBody>
          <a:bodyPr wrap="square" lIns="569321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remocao = historico.pop()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150" y="3777754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print(f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"Ação removida {remocao}"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9200" y="1831280"/>
            <a:ext cx="5232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Efeito de um desfazer na pilha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9200" y="2257921"/>
            <a:ext cx="25377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5550" y="25639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processar_pedido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5550" y="30211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cadastrar_pedido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5550" y="34783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cadastrar_produto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2257921"/>
            <a:ext cx="25377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Depois do pop()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21750" y="25639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cadastrar_pedido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21750" y="30211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cadastrar_produto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18250" y="4056162"/>
            <a:ext cx="0" cy="80010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89700" y="4056162"/>
            <a:ext cx="503618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pop() remove o elemento do topo (o destacado em Antes): a última ação registrada. É o funcionamento de uma pilha.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Análise de complexidade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11</a:t>
            </a:r>
            <a:endParaRPr lang="en-US" sz="1200" dirty="0"/>
          </a:p>
        </p:txBody>
      </p:sp>
      <p:graphicFrame>
        <p:nvGraphicFramePr>
          <p:cNvPr id="20" name="Tabela de complexidade"/>
          <p:cNvGraphicFramePr>
            <a:graphicFrameLocks noGrp="1"/>
          </p:cNvGraphicFramePr>
          <p:nvPr/>
        </p:nvGraphicFramePr>
        <p:xfrm>
          <a:off x="812800" y="1831280"/>
          <a:ext cx="10883392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3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2EFE8"/>
                          </a:solidFill>
                          <a:latin typeface="DM Sans"/>
                          <a:ea typeface="DM Sans"/>
                          <a:cs typeface="DM Sans"/>
                        </a:rPr>
                        <a:t>Operação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2EFE8"/>
                          </a:solidFill>
                          <a:latin typeface="DM Sans"/>
                          <a:ea typeface="DM Sans"/>
                          <a:cs typeface="DM Sans"/>
                        </a:rPr>
                        <a:t>Melhor caso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2EFE8"/>
                          </a:solidFill>
                          <a:latin typeface="DM Sans"/>
                          <a:ea typeface="DM Sans"/>
                          <a:cs typeface="DM Sans"/>
                        </a:rPr>
                        <a:t>Pior caso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2EFE8"/>
                          </a:solidFill>
                          <a:latin typeface="DM Sans"/>
                          <a:ea typeface="DM Sans"/>
                          <a:cs typeface="DM Sans"/>
                        </a:rPr>
                        <a:t>Observação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Cadastro com append()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Inserção no final da lista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Remoção por busca de código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5500"/>
                          </a:solidFill>
                          <a:latin typeface="DM Sans"/>
                          <a:ea typeface="DM Sans"/>
                          <a:cs typeface="DM Sans"/>
                        </a:rPr>
                        <a:t>O(n)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Acha no 1º registro ou percorre a lista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Busca binária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O(log n)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Exige a lista ordenada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Bubble Sort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8322B"/>
                          </a:solidFill>
                          <a:latin typeface="DM Sans"/>
                          <a:ea typeface="DM Sans"/>
                          <a:cs typeface="DM Sans"/>
                        </a:rPr>
                        <a:t>O(n²)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8322B"/>
                          </a:solidFill>
                          <a:latin typeface="DM Sans"/>
                          <a:ea typeface="DM Sans"/>
                          <a:cs typeface="DM Sans"/>
                        </a:rPr>
                        <a:t>O(n²)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Executa todas as passagens, mesmo ordenado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Fila de prioridade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5500"/>
                          </a:solidFill>
                          <a:latin typeface="DM Sans"/>
                          <a:ea typeface="DM Sans"/>
                          <a:cs typeface="DM Sans"/>
                        </a:rPr>
                        <a:t>O(n)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5500"/>
                          </a:solidFill>
                          <a:latin typeface="DM Sans"/>
                          <a:ea typeface="DM Sans"/>
                          <a:cs typeface="DM Sans"/>
                        </a:rPr>
                        <a:t>O(n)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Percorre todos os pedidos para achar a prioridade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Pilha: append()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Insere no topo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B2D"/>
                          </a:solidFill>
                          <a:latin typeface="DM Sans"/>
                          <a:ea typeface="DM Sans"/>
                          <a:cs typeface="DM Sans"/>
                        </a:rPr>
                        <a:t>Pilha: pop()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6E60"/>
                          </a:solidFill>
                          <a:latin typeface="DM Sans"/>
                          <a:ea typeface="DM Sans"/>
                          <a:cs typeface="DM Sans"/>
                        </a:rPr>
                        <a:t>O(1)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1607A"/>
                          </a:solidFill>
                          <a:latin typeface="DM Sans"/>
                          <a:ea typeface="DM Sans"/>
                          <a:cs typeface="DM Sans"/>
                        </a:rPr>
                        <a:t>Remove o elemento do topo</a:t>
                      </a:r>
                    </a:p>
                  </a:txBody>
                  <a:tcPr marL="13716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D8CE"/>
                      </a:solidFill>
                    </a:lnT>
                    <a:lnB w="9525" cap="flat" cmpd="sng" algn="ctr">
                      <a:solidFill>
                        <a:srgbClr val="DCD8CE"/>
                      </a:solidFill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Cartão melhor caso"/>
          <p:cNvSpPr/>
          <p:nvPr/>
        </p:nvSpPr>
        <p:spPr>
          <a:xfrm>
            <a:off x="812800" y="4960000"/>
            <a:ext cx="5327396" cy="1000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/>
            <a:r>
              <a:rPr sz="1400" b="1">
                <a:solidFill>
                  <a:srgbClr val="0B6E60"/>
                </a:solidFill>
                <a:latin typeface="DM Sans"/>
                <a:ea typeface="DM Sans"/>
                <a:cs typeface="DM Sans"/>
              </a:rPr>
              <a:t>Melhor caso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F1B2D"/>
                </a:solidFill>
                <a:latin typeface="DM Sans"/>
                <a:ea typeface="DM Sans"/>
                <a:cs typeface="DM Sans"/>
              </a:rPr>
              <a:t>Menos operações possíveis. Ex.: na busca binária, o produto está exatamente no meio da lista.</a:t>
            </a:r>
          </a:p>
        </p:txBody>
      </p:sp>
      <p:sp>
        <p:nvSpPr>
          <p:cNvPr id="22" name="Cartão pior caso"/>
          <p:cNvSpPr/>
          <p:nvPr/>
        </p:nvSpPr>
        <p:spPr>
          <a:xfrm>
            <a:off x="6368796" y="4960000"/>
            <a:ext cx="5327396" cy="1000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/>
            <a:r>
              <a:rPr sz="1400" b="1">
                <a:solidFill>
                  <a:srgbClr val="F2A541"/>
                </a:solidFill>
                <a:latin typeface="DM Sans"/>
                <a:ea typeface="DM Sans"/>
                <a:cs typeface="DM Sans"/>
              </a:rPr>
              <a:t>Pior caso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2EFE8"/>
                </a:solidFill>
                <a:latin typeface="DM Sans"/>
                <a:ea typeface="DM Sans"/>
                <a:cs typeface="DM Sans"/>
              </a:rPr>
              <a:t>Mais operações possíveis. Ex.: a busca binária divide o intervalo várias vezes até achar ou descartar o código.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A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49598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40719"/>
            <a:ext cx="418592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Conclusão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705199"/>
            <a:ext cx="4185920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ERP simples em Python que coloca em prática as estruturas de dados e os algoritmos vistos na disciplina.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789660"/>
            <a:ext cx="418592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passos:</a:t>
            </a: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desfazer que também reverte o estoque, validação das entradas e gravação dos dados em arquivo.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713982"/>
            <a:ext cx="41859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Obrigado! 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5900" y="2095500"/>
          <a:ext cx="6083300" cy="2476500"/>
        </p:xfrm>
        <a:graphic>
          <a:graphicData uri="http://schemas.openxmlformats.org/drawingml/2006/table">
            <a:tbl>
              <a:tblPr/>
              <a:tblGrid>
                <a:gridCol w="243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Conceito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projeto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Listas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estoque, pedidos, histórico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Bubble Sort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ordenar_estoque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Busca binária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buscar_produto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Fila de prioridade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pedidos_prioridade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Pilha (LIFO)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historico, desfazer_acao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P Distribuidora">
  <a:themeElements>
    <a:clrScheme name="ERP Distribuidora">
      <a:dk1>
        <a:srgbClr val="0F1B2D"/>
      </a:dk1>
      <a:lt1>
        <a:srgbClr val="F2EFE8"/>
      </a:lt1>
      <a:dk2>
        <a:srgbClr val="263040"/>
      </a:dk2>
      <a:lt2>
        <a:srgbClr val="B9BAB9"/>
      </a:lt2>
      <a:accent1>
        <a:srgbClr val="51607A"/>
      </a:accent1>
      <a:accent2>
        <a:srgbClr val="F2A541"/>
      </a:accent2>
      <a:accent3>
        <a:srgbClr val="3CC4AE"/>
      </a:accent3>
      <a:accent4>
        <a:srgbClr val="0B6E60"/>
      </a:accent4>
      <a:accent5>
        <a:srgbClr val="8DA0B8"/>
      </a:accent5>
      <a:accent6>
        <a:srgbClr val="7F93AD"/>
      </a:accent6>
      <a:hlink>
        <a:srgbClr val="0563C1"/>
      </a:hlink>
      <a:folHlink>
        <a:srgbClr val="954F72"/>
      </a:folHlink>
    </a:clrScheme>
    <a:fontScheme name="ERP Distribuidora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2456</Words>
  <Application>Microsoft Office PowerPoint</Application>
  <PresentationFormat>Widescreen</PresentationFormat>
  <Paragraphs>269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DM Sans</vt:lpstr>
      <vt:lpstr>JetBrains Mono</vt:lpstr>
      <vt:lpstr>ERP Distribuidora</vt:lpstr>
      <vt:lpstr>Sistema de Gerenciamento de Distribuidora</vt:lpstr>
      <vt:lpstr>Objetivo do sistema</vt:lpstr>
      <vt:lpstr>Cadastro e controle do estoque</vt:lpstr>
      <vt:lpstr>Ordenação com Bubble Sort</vt:lpstr>
      <vt:lpstr>Busca binária</vt:lpstr>
      <vt:lpstr>Fila de pedidos com prioridade</vt:lpstr>
      <vt:lpstr>Processamento do pedido</vt:lpstr>
      <vt:lpstr>Pilha: histórico de ações</vt:lpstr>
      <vt:lpstr>Desfazer a última ação</vt:lpstr>
      <vt:lpstr>Análise de complexidade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Distribuidora</dc:title>
  <dc:subject/>
  <dc:creator/>
  <cp:lastModifiedBy>Luan Gabriel Rocha</cp:lastModifiedBy>
  <cp:revision>3</cp:revision>
  <dcterms:created xsi:type="dcterms:W3CDTF">2026-10-05T01:16:41Z</dcterms:created>
  <dcterms:modified xsi:type="dcterms:W3CDTF">2026-10-05T14:08:36Z</dcterms:modified>
</cp:coreProperties>
</file>