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5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2438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Cumprimente a turma, apresente os integrantes do grupo e diga o nome do projeto. Antes de apresentar, troque os campos entre colchetes (integrantes, disciplina, professor, instituição e data). Abertura sugerida: "Nosso projeto é um sistema em Python para gerenciar uma distribuidora: estoque, pedidos e histórico de ações. Ao longo dos slides vamos mostrar também as estruturas de dados e algoritmos que usamos."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rapidamente o problema que o sistema resolve: uma distribuidora precisa saber o que tem em estoque, quais pedidos chegaram e qual deve ser entregue primeiro. O sistema reúne tudo isso em um único programa: produtos e estoque, pedidos, prioridade, processamento (que dá baixa no estoque), histórico de ações e busca de produtos.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menu do programa, com 10 opções. Destaque que o sistema foi feito de forma modular: cada opção chama uma função própria (cadastrar_produto, remover_produto, ver_estoque, cadastrar_pedido, processar_pedido e assim por diante), o que deixa o código organizado e fácil de manter. As opções 1 a 5 cuidam do estoque e dos pedidos; as opções 6 a 9 usam as estruturas de dados e algoritmos que vamos detalhar a seguir.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quatro operações principais do estoque: cadastrar, remover, visualizar e ordenar. No cadastro, o programa lê código, nome, quantidade e preço, monta uma lista com esses valores e a adiciona ao estoque com append. Fala sugerida: "Cada produto é armazenado em uma lista e essa lista é adicionada ao estoque." A função também devolve o produto, que o menu usa para registrar a ação no histórico.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usar a busca binária, o estoque precisa estar ordenado pelo código do produto. Para isso usamos o Bubble Sort: o laço de fora controla quantas passagens serão feitas, o laço de dentro compara pares vizinhos, e se o código da esquerda for maior que o da direita os dois trocam de posição. Exemplo com [300, 100, 200]: na primeira comparação 300 e 100 trocam; depois 300 e 200 trocam; o maior código vai para o fim da lista. A cada passagem o próximo maior vai para o seu lugar. Observação: o Bubble Sort é simples de entender, mas tem custo O(n²), então para estoques muito grandes existiriam algoritmos melhores.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menu, a opção 7 primeiro ordena o estoque pelo código (Bubble Sort) e só depois faz a busca binária. A busca olha o elemento do meio: se for o código procurado, termina; se o código procurado for maior, descarta a metade da esquerda (inicio = meio + 1); se for menor, descarta a metade da direita (fim = meio - 1). Exemplo no estoque [100, 200, 300, 400, 500] procurando 400: no passo 1, meio = 2 e o valor é 300, então a busca continua à direita; no passo 2, meio = (3 + 4) // 2 = 3 e o valor é 400, encontrado. Fala sugerida: "Antes de realizar a busca binária, o estoque é ordenado pelo código do produto. Depois disso, a busca binária reduz o espaço de procura pela metade a cada comparação." Dica: o "//" faz divisão inteira, descartando a parte decimal.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uma das partes mais importantes do projeto. Os pedidos ficam guardados em uma lista comum, mas ao processar o sistema procura o pedido com o menor número de prioridade (1 = alta, 2 = média, 3 = baixa). O laço percorre a lista guardando o índice do melhor candidato; só troca quando encontra uma prioridade estritamente menor. Isso significa que, entre pedidos com a mesma prioridade, o mais antigo sai primeiro. No exemplo, o Pedido 2 foi cadastrado depois do Pedido 1, mas como tem prioridade 1 ele é processado antes. Observação: a procura percorre toda a lista a cada vez, então o custo é O(n); uma estrutura como heap faria isso de forma mais eficiente em listas muito grandes.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Percorra o fluxo de cima para baixo: o pedido é cadastrado, o sistema verifica as prioridades, seleciona o pedido prioritário, confere se o produto existe no estoque, diminui a quantidade e remove o pedido da fila. As duas linhas de código que fazem isso são a subtração da quantidade (produto[2] = produto[2] - pedido[3]) e o pop na lista de pedidos. Explique que o estoque é atualizado quando o pedido é processado, não quando é cadastrado: no cadastro o sistema apenas confere se a quantidade pedida está disponível. Exemplo: o produto 101 (Teclado) tinha 20 unidades; o pedido de 2 unidades deixa 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mostra o conceito de pilha. Cada ação feita no menu (cadastrar produto, remover produto, cadastrar pedido, processar pedido) é registrada no histórico com append, que coloca a ação no topo. Para remover, usamos pop, que tira justamente a última ação inserida. Fala sugerida: "O histórico utiliza o conceito LIFO, Last In, First Out. A última ação registrada é a primeira a ser removida." Na figura, processar_pedido é a última ação e por isso está no topo, em destaque.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o usuário escolhe desfazer, a função confere se o histórico está vazio; se estiver, avisa que não há ações para desfazer. Caso contrário, usa pop(), que remove o último elemento da lista. Fala sugerida: "Quando o usuário escolhe desfazer, utilizamos o pop(), que remove o último elemento da lista. Dessa forma, demonstramos o funcionamento de uma pilha." Se o professor perguntar: nesta versão o desfazer remove o registro do topo do histórico e mostra qual ação foi removida; reverter também o efeito da ação no estoque (por exemplo, devolver a quantidade de um pedido processado) é uma evolução natural do projeto.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retomando o que o projeto aplica: listas para guardar os dados, Bubble Sort para ordenar o estoque, busca binária para localizar produtos, uma fila com prioridade para decidir qual pedido processar primeiro e uma pilha para o histórico de ações. Mencione os próximos passos: fazer o desfazer reverter também o estoque, validar as entradas do usuário e gravar os dados em arquivo para não perdê-los ao fechar o programa. Agradeça e abra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566400" cy="47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4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82080"/>
            <a:ext cx="10566400" cy="416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566400" cy="47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4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82080"/>
            <a:ext cx="10566400" cy="416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69350" y="1085850"/>
            <a:ext cx="2603500" cy="2603500"/>
          </a:xfrm>
          <a:prstGeom prst="roundRect">
            <a:avLst>
              <a:gd name="adj" fmla="val 13415"/>
            </a:avLst>
          </a:prstGeom>
          <a:gradFill rotWithShape="1">
            <a:gsLst>
              <a:gs pos="0">
                <a:srgbClr val="1F6F66"/>
              </a:gs>
              <a:gs pos="100000">
                <a:srgbClr val="16263D"/>
              </a:gs>
            </a:gsLst>
            <a:lin ang="2700000" scaled="0"/>
          </a:gradFill>
          <a:ln w="12700">
            <a:solidFill>
              <a:srgbClr val="2A3F5E"/>
            </a:solidFill>
            <a:prstDash val="solid"/>
          </a:ln>
        </p:spPr>
      </p:sp>
      <p:pic>
        <p:nvPicPr>
          <p:cNvPr id="3" name="Image 0" descr="Databas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45600" y="1562100"/>
            <a:ext cx="1651000" cy="1651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PROJETO ACADÊMICO · PYTHON</a:t>
            </a:r>
            <a:endParaRPr lang="en-US" sz="1200" dirty="0"/>
          </a:p>
        </p:txBody>
      </p:sp>
      <p:sp>
        <p:nvSpPr>
          <p:cNvPr id="5" name="Text 2"/>
          <p:cNvSpPr>
            <a:spLocks noGrp="1"/>
          </p:cNvSpPr>
          <p:nvPr>
            <p:ph type="title"/>
          </p:nvPr>
        </p:nvSpPr>
        <p:spPr>
          <a:xfrm>
            <a:off x="812800" y="1473895"/>
            <a:ext cx="7717790" cy="2025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0000"/>
          </a:bodyPr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5000" b="1" i="0" kern="0" spc="-1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Sistema de Gerenciamento de Distribuidora</a:t>
            </a:r>
            <a:endParaRPr lang="en-US" sz="5000" dirty="0"/>
          </a:p>
        </p:txBody>
      </p:sp>
      <p:sp>
        <p:nvSpPr>
          <p:cNvPr id="6" name="Text 3"/>
          <p:cNvSpPr/>
          <p:nvPr/>
        </p:nvSpPr>
        <p:spPr>
          <a:xfrm>
            <a:off x="812800" y="3677345"/>
            <a:ext cx="771779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A9B7C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ERP em Python: estoque, pedidos e histórico de ações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19150" y="4206875"/>
            <a:ext cx="785912" cy="370780"/>
          </a:xfrm>
          <a:prstGeom prst="roundRect">
            <a:avLst>
              <a:gd name="adj" fmla="val 50000"/>
            </a:avLst>
          </a:prstGeom>
          <a:solidFill>
            <a:srgbClr val="16263D"/>
          </a:solidFill>
          <a:ln w="12700">
            <a:solidFill>
              <a:srgbClr val="2A3F5E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Listas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719362" y="4206875"/>
            <a:ext cx="1247874" cy="370780"/>
          </a:xfrm>
          <a:prstGeom prst="roundRect">
            <a:avLst>
              <a:gd name="adj" fmla="val 50000"/>
            </a:avLst>
          </a:prstGeom>
          <a:solidFill>
            <a:srgbClr val="16263D"/>
          </a:solidFill>
          <a:ln w="12700">
            <a:solidFill>
              <a:srgbClr val="2A3F5E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Bubble Sort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081536" y="4206875"/>
            <a:ext cx="1389360" cy="370780"/>
          </a:xfrm>
          <a:prstGeom prst="roundRect">
            <a:avLst>
              <a:gd name="adj" fmla="val 50000"/>
            </a:avLst>
          </a:prstGeom>
          <a:solidFill>
            <a:srgbClr val="16263D"/>
          </a:solidFill>
          <a:ln w="12700">
            <a:solidFill>
              <a:srgbClr val="2A3F5E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Busca binária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85196" y="4206875"/>
            <a:ext cx="1704181" cy="370780"/>
          </a:xfrm>
          <a:prstGeom prst="roundRect">
            <a:avLst>
              <a:gd name="adj" fmla="val 50000"/>
            </a:avLst>
          </a:prstGeom>
          <a:solidFill>
            <a:srgbClr val="16263D"/>
          </a:solidFill>
          <a:ln w="12700">
            <a:solidFill>
              <a:srgbClr val="2A3F5E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Fila de prioridade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3677" y="4206875"/>
            <a:ext cx="1212354" cy="370780"/>
          </a:xfrm>
          <a:prstGeom prst="roundRect">
            <a:avLst>
              <a:gd name="adj" fmla="val 50000"/>
            </a:avLst>
          </a:prstGeom>
          <a:solidFill>
            <a:srgbClr val="16263D"/>
          </a:solidFill>
          <a:ln w="12700">
            <a:solidFill>
              <a:srgbClr val="2A3F5E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Pilha (LIFO)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12800" y="5038130"/>
            <a:ext cx="10566400" cy="0"/>
          </a:xfrm>
          <a:prstGeom prst="line">
            <a:avLst/>
          </a:prstGeom>
          <a:noFill/>
          <a:ln w="12700">
            <a:solidFill>
              <a:srgbClr val="2A3F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5431" y="5247322"/>
            <a:ext cx="19254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2A5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INTEGRANTES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05431" y="5511799"/>
            <a:ext cx="2844800" cy="11723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Luan Gabriel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2EFE8"/>
                </a:solidFill>
                <a:latin typeface="DM Sans" pitchFamily="34" charset="0"/>
              </a:rPr>
              <a:t>João Araujo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2EFE8"/>
                </a:solidFill>
                <a:latin typeface="DM Sans" pitchFamily="34" charset="0"/>
              </a:rPr>
              <a:t>João Marino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2EFE8"/>
                </a:solidFill>
                <a:latin typeface="DM Sans" pitchFamily="34" charset="0"/>
              </a:rPr>
              <a:t>Matheus Marino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776216" y="5247322"/>
            <a:ext cx="19255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2A5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DISCIPLINA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776216" y="5511799"/>
            <a:ext cx="2174280" cy="6044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pt-BR" sz="15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Algoritmo</a:t>
            </a:r>
            <a:r>
              <a:rPr lang="en-US" sz="15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 </a:t>
            </a:r>
            <a:r>
              <a:rPr lang="pt-BR" sz="15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Estrutura</a:t>
            </a:r>
            <a:r>
              <a:rPr lang="en-US" sz="15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Dados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595170" y="5247680"/>
            <a:ext cx="19254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2A5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PROFESSOR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595170" y="5498920"/>
            <a:ext cx="21741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Júlio César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9261005" y="5247680"/>
            <a:ext cx="19255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2A5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INSTITUIÇÃO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261005" y="5511800"/>
            <a:ext cx="192556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2EFE8"/>
                </a:solidFill>
                <a:latin typeface="DM Sans" pitchFamily="34" charset="0"/>
              </a:rPr>
              <a:t>UNIFAN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36626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0B6E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OBJETIVO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20"/>
            <a:ext cx="3662680" cy="975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Objetivo do sistema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12800" y="2280841"/>
            <a:ext cx="3662680" cy="1536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5160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Um programa em Python para organizar o dia a dia de uma distribuidora: o que há no estoque, quem pediu o quê e o que entregar primeiro.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778375" y="815975"/>
            <a:ext cx="3219450" cy="1230511"/>
          </a:xfrm>
          <a:prstGeom prst="roundRect">
            <a:avLst>
              <a:gd name="adj" fmla="val 10063"/>
            </a:avLst>
          </a:prstGeom>
          <a:solidFill>
            <a:srgbClr val="FBFAF7"/>
          </a:solidFill>
          <a:ln w="6350">
            <a:solidFill>
              <a:srgbClr val="DCD8CE"/>
            </a:solidFill>
            <a:prstDash val="solid"/>
          </a:ln>
        </p:spPr>
      </p:sp>
      <p:pic>
        <p:nvPicPr>
          <p:cNvPr id="6" name="Image 0" descr="Databas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84750" y="1022350"/>
            <a:ext cx="279400" cy="279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65750" y="1040110"/>
            <a:ext cx="2329339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Produtos e estoque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984750" y="1377950"/>
            <a:ext cx="2890901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160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Cadastro, remoção e consulta dos itens disponíveis.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156575" y="815975"/>
            <a:ext cx="3219450" cy="1230511"/>
          </a:xfrm>
          <a:prstGeom prst="roundRect">
            <a:avLst>
              <a:gd name="adj" fmla="val 10063"/>
            </a:avLst>
          </a:prstGeom>
          <a:solidFill>
            <a:srgbClr val="FBFAF7"/>
          </a:solidFill>
          <a:ln w="6350">
            <a:solidFill>
              <a:srgbClr val="DCD8CE"/>
            </a:solidFill>
            <a:prstDash val="solid"/>
          </a:ln>
        </p:spPr>
      </p:sp>
      <p:pic>
        <p:nvPicPr>
          <p:cNvPr id="10" name="Image 1" descr="Book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62950" y="1022350"/>
            <a:ext cx="279400" cy="279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743950" y="1040110"/>
            <a:ext cx="95500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Pedidos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362950" y="1377950"/>
            <a:ext cx="2890901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160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Registro do cliente, do produto e da quantidade.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778375" y="2205236"/>
            <a:ext cx="3219450" cy="1438672"/>
          </a:xfrm>
          <a:prstGeom prst="roundRect">
            <a:avLst>
              <a:gd name="adj" fmla="val 8607"/>
            </a:avLst>
          </a:prstGeom>
          <a:solidFill>
            <a:srgbClr val="FBFAF7"/>
          </a:solidFill>
          <a:ln w="6350">
            <a:solidFill>
              <a:srgbClr val="DCD8CE"/>
            </a:solidFill>
            <a:prstDash val="solid"/>
          </a:ln>
        </p:spPr>
      </p:sp>
      <p:pic>
        <p:nvPicPr>
          <p:cNvPr id="14" name="Image 2" descr="Star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984750" y="2411611"/>
            <a:ext cx="279400" cy="2794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65750" y="2429371"/>
            <a:ext cx="262890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Prioridade de pedidos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984750" y="2767211"/>
            <a:ext cx="2890901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160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Alta, média ou baixa define a ordem de entrega.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156575" y="2205236"/>
            <a:ext cx="3219450" cy="1438672"/>
          </a:xfrm>
          <a:prstGeom prst="roundRect">
            <a:avLst>
              <a:gd name="adj" fmla="val 8607"/>
            </a:avLst>
          </a:prstGeom>
          <a:solidFill>
            <a:srgbClr val="FBFAF7"/>
          </a:solidFill>
          <a:ln w="6350">
            <a:solidFill>
              <a:srgbClr val="DCD8CE"/>
            </a:solidFill>
            <a:prstDash val="solid"/>
          </a:ln>
        </p:spPr>
      </p:sp>
      <p:pic>
        <p:nvPicPr>
          <p:cNvPr id="18" name="Image 3" descr="Lightning"/>
          <p:cNvPicPr>
            <a:picLocks noChangeAspect="1"/>
          </p:cNvPicPr>
          <p:nvPr/>
        </p:nvPicPr>
        <p:blipFill>
          <a:blip r:embed="rId6"/>
          <a:srcRect t="-394" b="-394"/>
          <a:stretch/>
        </p:blipFill>
        <p:spPr>
          <a:xfrm>
            <a:off x="8362950" y="2515691"/>
            <a:ext cx="252016" cy="2794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716566" y="2411611"/>
            <a:ext cx="2526677" cy="512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Processamento de pedidos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8362950" y="2975372"/>
            <a:ext cx="2890901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160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Baixa automática da quantidade no estoque.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778375" y="3802658"/>
            <a:ext cx="3219450" cy="1230511"/>
          </a:xfrm>
          <a:prstGeom prst="roundRect">
            <a:avLst>
              <a:gd name="adj" fmla="val 10063"/>
            </a:avLst>
          </a:prstGeom>
          <a:solidFill>
            <a:srgbClr val="FBFAF7"/>
          </a:solidFill>
          <a:ln w="6350">
            <a:solidFill>
              <a:srgbClr val="DCD8CE"/>
            </a:solidFill>
            <a:prstDash val="solid"/>
          </a:ln>
        </p:spPr>
      </p:sp>
      <p:pic>
        <p:nvPicPr>
          <p:cNvPr id="22" name="Image 4" descr="Clock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984750" y="4009033"/>
            <a:ext cx="279400" cy="2794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65750" y="4026793"/>
            <a:ext cx="2218849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Histórico de ações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4984750" y="4364633"/>
            <a:ext cx="2890901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160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 ação fica registrada e pode ser desfeita.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8156575" y="3802658"/>
            <a:ext cx="3219450" cy="1230511"/>
          </a:xfrm>
          <a:prstGeom prst="roundRect">
            <a:avLst>
              <a:gd name="adj" fmla="val 10063"/>
            </a:avLst>
          </a:prstGeom>
          <a:solidFill>
            <a:srgbClr val="FBFAF7"/>
          </a:solidFill>
          <a:ln w="6350">
            <a:solidFill>
              <a:srgbClr val="DCD8CE"/>
            </a:solidFill>
            <a:prstDash val="solid"/>
          </a:ln>
        </p:spPr>
      </p:sp>
      <p:pic>
        <p:nvPicPr>
          <p:cNvPr id="26" name="Image 5" descr="Search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362950" y="4009033"/>
            <a:ext cx="279400" cy="2794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743950" y="4026793"/>
            <a:ext cx="224444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Busca de produtos</a:t>
            </a:r>
            <a:endParaRPr lang="en-US" sz="1600" dirty="0"/>
          </a:p>
        </p:txBody>
      </p:sp>
      <p:sp>
        <p:nvSpPr>
          <p:cNvPr id="28" name="Text 20"/>
          <p:cNvSpPr/>
          <p:nvPr/>
        </p:nvSpPr>
        <p:spPr>
          <a:xfrm>
            <a:off x="8362950" y="4364633"/>
            <a:ext cx="2890901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160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Localização rápida de um produto pelo código.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ERP Distribuidora · Sistema de Gerenciamento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/ 11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MENU DO PROGRAMA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50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Funcionalidades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5975" y="1834455"/>
            <a:ext cx="5200650" cy="488950"/>
          </a:xfrm>
          <a:prstGeom prst="roundRect">
            <a:avLst>
              <a:gd name="adj" fmla="val 20130"/>
            </a:avLst>
          </a:prstGeom>
          <a:solidFill>
            <a:srgbClr val="16263D"/>
          </a:solidFill>
          <a:ln w="6350">
            <a:solidFill>
              <a:srgbClr val="2A3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2650" y="190113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8900" y="0"/>
                </a:moveTo>
                <a:lnTo>
                  <a:pt x="266700" y="0"/>
                </a:lnTo>
                <a:arcTo wR="88900" hR="88900" stAng="16200000" swAng="5400000"/>
                <a:lnTo>
                  <a:pt x="355600" y="266700"/>
                </a:lnTo>
                <a:arcTo wR="88900" hR="88900" stAng="0" swAng="5400000"/>
                <a:lnTo>
                  <a:pt x="88900" y="355600"/>
                </a:lnTo>
                <a:arcTo wR="88900" hR="88900" stAng="5400000" swAng="5400000"/>
                <a:lnTo>
                  <a:pt x="0" y="88900"/>
                </a:lnTo>
                <a:arcTo wR="88900" hR="88900" stAng="10800000" swAng="5400000"/>
                <a:close/>
              </a:path>
            </a:pathLst>
          </a:custGeom>
          <a:solidFill>
            <a:srgbClr val="F2A54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90650" y="1927820"/>
            <a:ext cx="2269093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Cadastrar produto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15975" y="2405955"/>
            <a:ext cx="5200650" cy="488950"/>
          </a:xfrm>
          <a:prstGeom prst="roundRect">
            <a:avLst>
              <a:gd name="adj" fmla="val 20130"/>
            </a:avLst>
          </a:prstGeom>
          <a:solidFill>
            <a:srgbClr val="16263D"/>
          </a:solidFill>
          <a:ln w="6350">
            <a:solidFill>
              <a:srgbClr val="2A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2650" y="247263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8900" y="0"/>
                </a:moveTo>
                <a:lnTo>
                  <a:pt x="266700" y="0"/>
                </a:lnTo>
                <a:arcTo wR="88900" hR="88900" stAng="16200000" swAng="5400000"/>
                <a:lnTo>
                  <a:pt x="355600" y="266700"/>
                </a:lnTo>
                <a:arcTo wR="88900" hR="88900" stAng="0" swAng="5400000"/>
                <a:lnTo>
                  <a:pt x="88900" y="355600"/>
                </a:lnTo>
                <a:arcTo wR="88900" hR="88900" stAng="5400000" swAng="5400000"/>
                <a:lnTo>
                  <a:pt x="0" y="88900"/>
                </a:lnTo>
                <a:arcTo wR="88900" hR="88900" stAng="10800000" swAng="5400000"/>
                <a:close/>
              </a:path>
            </a:pathLst>
          </a:custGeom>
          <a:solidFill>
            <a:srgbClr val="F2A54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90650" y="2499320"/>
            <a:ext cx="2118836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Remover produto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15975" y="2977455"/>
            <a:ext cx="5200650" cy="488950"/>
          </a:xfrm>
          <a:prstGeom prst="roundRect">
            <a:avLst>
              <a:gd name="adj" fmla="val 20130"/>
            </a:avLst>
          </a:prstGeom>
          <a:solidFill>
            <a:srgbClr val="16263D"/>
          </a:solidFill>
          <a:ln w="6350">
            <a:solidFill>
              <a:srgbClr val="2A3F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2650" y="304413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8900" y="0"/>
                </a:moveTo>
                <a:lnTo>
                  <a:pt x="266700" y="0"/>
                </a:lnTo>
                <a:arcTo wR="88900" hR="88900" stAng="16200000" swAng="5400000"/>
                <a:lnTo>
                  <a:pt x="355600" y="266700"/>
                </a:lnTo>
                <a:arcTo wR="88900" hR="88900" stAng="0" swAng="5400000"/>
                <a:lnTo>
                  <a:pt x="88900" y="355600"/>
                </a:lnTo>
                <a:arcTo wR="88900" hR="88900" stAng="5400000" swAng="5400000"/>
                <a:lnTo>
                  <a:pt x="0" y="88900"/>
                </a:lnTo>
                <a:arcTo wR="88900" hR="88900" stAng="10800000" swAng="5400000"/>
                <a:close/>
              </a:path>
            </a:pathLst>
          </a:custGeom>
          <a:solidFill>
            <a:srgbClr val="F2A54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90650" y="3070820"/>
            <a:ext cx="147578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 estoque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5975" y="3548955"/>
            <a:ext cx="5200650" cy="488950"/>
          </a:xfrm>
          <a:prstGeom prst="roundRect">
            <a:avLst>
              <a:gd name="adj" fmla="val 20130"/>
            </a:avLst>
          </a:prstGeom>
          <a:solidFill>
            <a:srgbClr val="16263D"/>
          </a:solidFill>
          <a:ln w="6350">
            <a:solidFill>
              <a:srgbClr val="2A3F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2650" y="361563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8900" y="0"/>
                </a:moveTo>
                <a:lnTo>
                  <a:pt x="266700" y="0"/>
                </a:lnTo>
                <a:arcTo wR="88900" hR="88900" stAng="16200000" swAng="5400000"/>
                <a:lnTo>
                  <a:pt x="355600" y="266700"/>
                </a:lnTo>
                <a:arcTo wR="88900" hR="88900" stAng="0" swAng="5400000"/>
                <a:lnTo>
                  <a:pt x="88900" y="355600"/>
                </a:lnTo>
                <a:arcTo wR="88900" hR="88900" stAng="5400000" swAng="5400000"/>
                <a:lnTo>
                  <a:pt x="0" y="88900"/>
                </a:lnTo>
                <a:arcTo wR="88900" hR="88900" stAng="10800000" swAng="5400000"/>
                <a:close/>
              </a:path>
            </a:pathLst>
          </a:custGeom>
          <a:solidFill>
            <a:srgbClr val="F2A54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90650" y="3642320"/>
            <a:ext cx="2145506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Cadastrar pedido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15975" y="4120455"/>
            <a:ext cx="5200650" cy="488950"/>
          </a:xfrm>
          <a:prstGeom prst="roundRect">
            <a:avLst>
              <a:gd name="adj" fmla="val 20130"/>
            </a:avLst>
          </a:prstGeom>
          <a:solidFill>
            <a:srgbClr val="16263D"/>
          </a:solidFill>
          <a:ln w="6350">
            <a:solidFill>
              <a:srgbClr val="2A3F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2650" y="418713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8900" y="0"/>
                </a:moveTo>
                <a:lnTo>
                  <a:pt x="266700" y="0"/>
                </a:lnTo>
                <a:arcTo wR="88900" hR="88900" stAng="16200000" swAng="5400000"/>
                <a:lnTo>
                  <a:pt x="355600" y="266700"/>
                </a:lnTo>
                <a:arcTo wR="88900" hR="88900" stAng="0" swAng="5400000"/>
                <a:lnTo>
                  <a:pt x="88900" y="355600"/>
                </a:lnTo>
                <a:arcTo wR="88900" hR="88900" stAng="5400000" swAng="5400000"/>
                <a:lnTo>
                  <a:pt x="0" y="88900"/>
                </a:lnTo>
                <a:arcTo wR="88900" hR="88900" stAng="10800000" swAng="5400000"/>
                <a:close/>
              </a:path>
            </a:pathLst>
          </a:custGeom>
          <a:solidFill>
            <a:srgbClr val="F2A54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90650" y="4213820"/>
            <a:ext cx="3207068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Processar próximo pedido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175375" y="1834455"/>
            <a:ext cx="5200650" cy="488950"/>
          </a:xfrm>
          <a:prstGeom prst="roundRect">
            <a:avLst>
              <a:gd name="adj" fmla="val 20130"/>
            </a:avLst>
          </a:prstGeom>
          <a:solidFill>
            <a:srgbClr val="16263D"/>
          </a:solidFill>
          <a:ln w="6350">
            <a:solidFill>
              <a:srgbClr val="2A3F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42050" y="190113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8900" y="0"/>
                </a:moveTo>
                <a:lnTo>
                  <a:pt x="266700" y="0"/>
                </a:lnTo>
                <a:arcTo wR="88900" hR="88900" stAng="16200000" swAng="5400000"/>
                <a:lnTo>
                  <a:pt x="355600" y="266700"/>
                </a:lnTo>
                <a:arcTo wR="88900" hR="88900" stAng="0" swAng="5400000"/>
                <a:lnTo>
                  <a:pt x="88900" y="355600"/>
                </a:lnTo>
                <a:arcTo wR="88900" hR="88900" stAng="5400000" swAng="5400000"/>
                <a:lnTo>
                  <a:pt x="0" y="88900"/>
                </a:lnTo>
                <a:arcTo wR="88900" hR="88900" stAng="10800000" swAng="5400000"/>
                <a:close/>
              </a:path>
            </a:pathLst>
          </a:custGeom>
          <a:solidFill>
            <a:srgbClr val="3CC4AE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50050" y="1927820"/>
            <a:ext cx="2621399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 pedido prioritário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175375" y="2405955"/>
            <a:ext cx="5200650" cy="488950"/>
          </a:xfrm>
          <a:prstGeom prst="roundRect">
            <a:avLst>
              <a:gd name="adj" fmla="val 20130"/>
            </a:avLst>
          </a:prstGeom>
          <a:solidFill>
            <a:srgbClr val="16263D"/>
          </a:solidFill>
          <a:ln w="6350">
            <a:solidFill>
              <a:srgbClr val="2A3F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42050" y="247263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8900" y="0"/>
                </a:moveTo>
                <a:lnTo>
                  <a:pt x="266700" y="0"/>
                </a:lnTo>
                <a:arcTo wR="88900" hR="88900" stAng="16200000" swAng="5400000"/>
                <a:lnTo>
                  <a:pt x="355600" y="266700"/>
                </a:lnTo>
                <a:arcTo wR="88900" hR="88900" stAng="0" swAng="5400000"/>
                <a:lnTo>
                  <a:pt x="88900" y="355600"/>
                </a:lnTo>
                <a:arcTo wR="88900" hR="88900" stAng="5400000" swAng="5400000"/>
                <a:lnTo>
                  <a:pt x="0" y="88900"/>
                </a:lnTo>
                <a:arcTo wR="88900" hR="88900" stAng="10800000" swAng="5400000"/>
                <a:close/>
              </a:path>
            </a:pathLst>
          </a:custGeom>
          <a:solidFill>
            <a:srgbClr val="3CC4AE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50050" y="2499320"/>
            <a:ext cx="1891784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Buscar produto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175375" y="2977455"/>
            <a:ext cx="5200650" cy="488950"/>
          </a:xfrm>
          <a:prstGeom prst="roundRect">
            <a:avLst>
              <a:gd name="adj" fmla="val 20130"/>
            </a:avLst>
          </a:prstGeom>
          <a:solidFill>
            <a:srgbClr val="16263D"/>
          </a:solidFill>
          <a:ln w="6350">
            <a:solidFill>
              <a:srgbClr val="2A3F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42050" y="304413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8900" y="0"/>
                </a:moveTo>
                <a:lnTo>
                  <a:pt x="266700" y="0"/>
                </a:lnTo>
                <a:arcTo wR="88900" hR="88900" stAng="16200000" swAng="5400000"/>
                <a:lnTo>
                  <a:pt x="355600" y="266700"/>
                </a:lnTo>
                <a:arcTo wR="88900" hR="88900" stAng="0" swAng="5400000"/>
                <a:lnTo>
                  <a:pt x="88900" y="355600"/>
                </a:lnTo>
                <a:arcTo wR="88900" hR="88900" stAng="5400000" swAng="5400000"/>
                <a:lnTo>
                  <a:pt x="0" y="88900"/>
                </a:lnTo>
                <a:arcTo wR="88900" hR="88900" stAng="10800000" swAng="5400000"/>
                <a:close/>
              </a:path>
            </a:pathLst>
          </a:custGeom>
          <a:solidFill>
            <a:srgbClr val="3CC4AE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50050" y="3070820"/>
            <a:ext cx="154662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 histórico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175375" y="3548955"/>
            <a:ext cx="5200650" cy="488950"/>
          </a:xfrm>
          <a:prstGeom prst="roundRect">
            <a:avLst>
              <a:gd name="adj" fmla="val 20130"/>
            </a:avLst>
          </a:prstGeom>
          <a:solidFill>
            <a:srgbClr val="16263D"/>
          </a:solidFill>
          <a:ln w="6350">
            <a:solidFill>
              <a:srgbClr val="2A3F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42050" y="361563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8900" y="0"/>
                </a:moveTo>
                <a:lnTo>
                  <a:pt x="266700" y="0"/>
                </a:lnTo>
                <a:arcTo wR="88900" hR="88900" stAng="16200000" swAng="5400000"/>
                <a:lnTo>
                  <a:pt x="355600" y="266700"/>
                </a:lnTo>
                <a:arcTo wR="88900" hR="88900" stAng="0" swAng="5400000"/>
                <a:lnTo>
                  <a:pt x="88900" y="355600"/>
                </a:lnTo>
                <a:arcTo wR="88900" hR="88900" stAng="5400000" swAng="5400000"/>
                <a:lnTo>
                  <a:pt x="0" y="88900"/>
                </a:lnTo>
                <a:arcTo wR="88900" hR="88900" stAng="10800000" swAng="5400000"/>
                <a:close/>
              </a:path>
            </a:pathLst>
          </a:custGeom>
          <a:solidFill>
            <a:srgbClr val="3CC4AE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750050" y="3642320"/>
            <a:ext cx="2552224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Desfazer última ação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6175375" y="4120455"/>
            <a:ext cx="5200650" cy="488950"/>
          </a:xfrm>
          <a:prstGeom prst="roundRect">
            <a:avLst>
              <a:gd name="adj" fmla="val 20130"/>
            </a:avLst>
          </a:prstGeom>
          <a:solidFill>
            <a:srgbClr val="16263D"/>
          </a:solidFill>
          <a:ln w="6350">
            <a:solidFill>
              <a:srgbClr val="2A3F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42050" y="418713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8900" y="0"/>
                </a:moveTo>
                <a:lnTo>
                  <a:pt x="266700" y="0"/>
                </a:lnTo>
                <a:arcTo wR="88900" hR="88900" stAng="16200000" swAng="5400000"/>
                <a:lnTo>
                  <a:pt x="355600" y="266700"/>
                </a:lnTo>
                <a:arcTo wR="88900" hR="88900" stAng="0" swAng="5400000"/>
                <a:lnTo>
                  <a:pt x="88900" y="355600"/>
                </a:lnTo>
                <a:arcTo wR="88900" hR="88900" stAng="5400000" swAng="5400000"/>
                <a:lnTo>
                  <a:pt x="0" y="88900"/>
                </a:lnTo>
                <a:arcTo wR="88900" hR="88900" stAng="10800000" swAng="5400000"/>
                <a:close/>
              </a:path>
            </a:pathLst>
          </a:custGeom>
          <a:solidFill>
            <a:srgbClr val="3CC4AE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50050" y="4213820"/>
            <a:ext cx="460653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Sair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812800" y="4866580"/>
            <a:ext cx="10566400" cy="660400"/>
          </a:xfrm>
          <a:prstGeom prst="roundRect">
            <a:avLst>
              <a:gd name="adj" fmla="val 11538"/>
            </a:avLst>
          </a:prstGeom>
          <a:solidFill>
            <a:srgbClr val="16263D"/>
          </a:solidFill>
          <a:ln/>
        </p:spPr>
      </p:sp>
      <p:sp>
        <p:nvSpPr>
          <p:cNvPr id="35" name="Shape 33"/>
          <p:cNvSpPr/>
          <p:nvPr/>
        </p:nvSpPr>
        <p:spPr>
          <a:xfrm>
            <a:off x="812800" y="4866580"/>
            <a:ext cx="10566400" cy="660400"/>
          </a:xfrm>
          <a:custGeom>
            <a:avLst/>
            <a:gdLst/>
            <a:ahLst/>
            <a:cxnLst/>
            <a:rect l="l" t="t" r="r" b="b"/>
            <a:pathLst>
              <a:path w="10566400" h="660400">
                <a:moveTo>
                  <a:pt x="76200" y="660400"/>
                </a:moveTo>
                <a:lnTo>
                  <a:pt x="76200" y="66040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584200"/>
                </a:lnTo>
                <a:arcTo wR="25400" hR="76200" stAng="10800000" swAng="-5400000"/>
                <a:close/>
              </a:path>
            </a:pathLst>
          </a:custGeom>
          <a:solidFill>
            <a:srgbClr val="F2A541"/>
          </a:solidFill>
          <a:ln/>
        </p:spPr>
      </p:sp>
      <p:pic>
        <p:nvPicPr>
          <p:cNvPr id="36" name="Image 0" descr="Cod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92200" y="5044380"/>
            <a:ext cx="304800" cy="30480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1549400" y="5054501"/>
            <a:ext cx="9264253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Desenvolvido de forma modular: cada opção do menu chama uma função própria.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DA0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ERP Distribuidora · Sistema de Gerenciamento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DA0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/ 11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ESTOQUE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50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Cadastro e controle do estoque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2800" y="2459236"/>
            <a:ext cx="4445000" cy="0"/>
          </a:xfrm>
          <a:prstGeom prst="line">
            <a:avLst/>
          </a:prstGeom>
          <a:noFill/>
          <a:ln w="6350">
            <a:solidFill>
              <a:srgbClr val="2A3F5E"/>
            </a:solidFill>
            <a:prstDash val="solid"/>
          </a:ln>
        </p:spPr>
      </p:sp>
      <p:pic>
        <p:nvPicPr>
          <p:cNvPr id="5" name="Image 0" descr="CheckCircl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1940421"/>
            <a:ext cx="279400" cy="279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19200" y="1831280"/>
            <a:ext cx="2322314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Cadastrar produto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219200" y="2115741"/>
            <a:ext cx="19933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9B7C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cadastrar_produto()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12800" y="3217366"/>
            <a:ext cx="4445000" cy="0"/>
          </a:xfrm>
          <a:prstGeom prst="line">
            <a:avLst/>
          </a:prstGeom>
          <a:noFill/>
          <a:ln w="6350">
            <a:solidFill>
              <a:srgbClr val="2A3F5E"/>
            </a:solidFill>
            <a:prstDash val="solid"/>
          </a:ln>
        </p:spPr>
      </p:sp>
      <p:pic>
        <p:nvPicPr>
          <p:cNvPr id="9" name="Image 1" descr="Tool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2800" y="2698552"/>
            <a:ext cx="279400" cy="279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19200" y="2589411"/>
            <a:ext cx="2164437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Remover produto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219200" y="2873871"/>
            <a:ext cx="185780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9B7C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remover_produto()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12800" y="3975497"/>
            <a:ext cx="4445000" cy="0"/>
          </a:xfrm>
          <a:prstGeom prst="line">
            <a:avLst/>
          </a:prstGeom>
          <a:noFill/>
          <a:ln w="6350">
            <a:solidFill>
              <a:srgbClr val="2A3F5E"/>
            </a:solidFill>
            <a:prstDash val="solid"/>
          </a:ln>
        </p:spPr>
      </p:sp>
      <p:pic>
        <p:nvPicPr>
          <p:cNvPr id="13" name="Image 2" descr="Search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2800" y="3456682"/>
            <a:ext cx="279400" cy="279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19200" y="3347541"/>
            <a:ext cx="2286595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Visualizar estoque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219200" y="3632002"/>
            <a:ext cx="196266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9B7C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ver_estoque()</a:t>
            </a:r>
            <a:endParaRPr lang="en-US" sz="1200" dirty="0"/>
          </a:p>
        </p:txBody>
      </p:sp>
      <p:pic>
        <p:nvPicPr>
          <p:cNvPr id="16" name="Image 3" descr="Settings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12800" y="4214813"/>
            <a:ext cx="279400" cy="2794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19200" y="4105672"/>
            <a:ext cx="2240994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Ordenar produtos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1219200" y="4390132"/>
            <a:ext cx="19235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9B7C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ordenar_estoque()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667375" y="1834455"/>
            <a:ext cx="5708650" cy="2398514"/>
          </a:xfrm>
          <a:prstGeom prst="roundRect">
            <a:avLst>
              <a:gd name="adj" fmla="val 5163"/>
            </a:avLst>
          </a:prstGeom>
          <a:solidFill>
            <a:srgbClr val="16263D"/>
          </a:solidFill>
          <a:ln w="6350">
            <a:solidFill>
              <a:srgbClr val="2A3F5E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5924550" y="2066230"/>
            <a:ext cx="535012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F93A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erp_distribuidora.py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924550" y="2317651"/>
            <a:ext cx="535012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2A54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def</a:t>
            </a:r>
            <a:r>
              <a:rPr lang="en-US" sz="14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400" dirty="0">
                <a:solidFill>
                  <a:srgbClr val="8F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cadastrar_produto</a:t>
            </a:r>
            <a:r>
              <a:rPr lang="en-US" sz="14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(estoque):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178550" y="2604591"/>
            <a:ext cx="508850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codigo = int(input(</a:t>
            </a:r>
            <a:r>
              <a:rPr lang="en-US" sz="1400" dirty="0">
                <a:solidFill>
                  <a:srgbClr val="7FD6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"Código do produto: "</a:t>
            </a:r>
            <a:r>
              <a:rPr lang="en-US" sz="14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))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178550" y="2891532"/>
            <a:ext cx="508850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7F93A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...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178550" y="3178473"/>
            <a:ext cx="508850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produto = [codigo, nome, quantidade, preco]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6178550" y="3465413"/>
            <a:ext cx="508850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estoque.append(produto)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6178550" y="3752354"/>
            <a:ext cx="508850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2A54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return</a:t>
            </a:r>
            <a:r>
              <a:rPr lang="en-US" sz="14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produto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5683250" y="4413945"/>
            <a:ext cx="0" cy="568920"/>
          </a:xfrm>
          <a:prstGeom prst="line">
            <a:avLst/>
          </a:prstGeom>
          <a:noFill/>
          <a:ln w="38100">
            <a:solidFill>
              <a:srgbClr val="F2A541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5854700" y="4413945"/>
            <a:ext cx="5690235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 produto é armazenado em uma lista e essa lista é adicionada ao estoque.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DA0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ERP Distribuidora · Sistema de Gerenciamento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DA0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 / 11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2">
            <a:extLst>
              <a:ext uri="{FF2B5EF4-FFF2-40B4-BE49-F238E27FC236}">
                <a16:creationId xmlns:a16="http://schemas.microsoft.com/office/drawing/2014/main" id="{402F08FC-202C-CC42-6026-74E5136BEB4A}"/>
              </a:ext>
            </a:extLst>
          </p:cNvPr>
          <p:cNvSpPr/>
          <p:nvPr/>
        </p:nvSpPr>
        <p:spPr>
          <a:xfrm>
            <a:off x="1022349" y="5049536"/>
            <a:ext cx="8752715" cy="990501"/>
          </a:xfrm>
          <a:prstGeom prst="roundRect">
            <a:avLst>
              <a:gd name="adj" fmla="val 3467"/>
            </a:avLst>
          </a:prstGeom>
          <a:solidFill>
            <a:srgbClr val="16263D"/>
          </a:solidFill>
          <a:ln w="6350">
            <a:solidFill>
              <a:srgbClr val="2A3F5E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0B6E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ORDENAÇÃO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50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Ordenação com Bubble Sort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705600" y="1831280"/>
            <a:ext cx="481380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160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Uma passagem com os códigos [300, 100, 200]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05600" y="2210991"/>
            <a:ext cx="196215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Início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05600" y="2472531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lista original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769350" y="2175371"/>
            <a:ext cx="698500" cy="546100"/>
          </a:xfrm>
          <a:custGeom>
            <a:avLst/>
            <a:gdLst/>
            <a:ahLst/>
            <a:cxnLst/>
            <a:rect l="l" t="t" r="r" b="b"/>
            <a:pathLst>
              <a:path w="698500" h="546100">
                <a:moveTo>
                  <a:pt x="82550" y="0"/>
                </a:moveTo>
                <a:lnTo>
                  <a:pt x="615950" y="0"/>
                </a:lnTo>
                <a:arcTo wR="82550" hR="82550" stAng="16200000" swAng="5400000"/>
                <a:lnTo>
                  <a:pt x="698500" y="463550"/>
                </a:lnTo>
                <a:arcTo wR="82550" hR="82550" stAng="0" swAng="5400000"/>
                <a:lnTo>
                  <a:pt x="82550" y="546100"/>
                </a:lnTo>
                <a:arcTo wR="82550" hR="82550" stAng="5400000" swAng="5400000"/>
                <a:lnTo>
                  <a:pt x="0" y="82550"/>
                </a:lnTo>
                <a:arcTo wR="82550" hR="82550" stAng="10800000" swAng="5400000"/>
                <a:close/>
              </a:path>
            </a:pathLst>
          </a:custGeom>
          <a:solidFill>
            <a:srgbClr val="FBFAF7"/>
          </a:solidFill>
          <a:ln w="12700">
            <a:solidFill>
              <a:srgbClr val="DCD8CE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4194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300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569450" y="2175371"/>
            <a:ext cx="698500" cy="546100"/>
          </a:xfrm>
          <a:custGeom>
            <a:avLst/>
            <a:gdLst/>
            <a:ahLst/>
            <a:cxnLst/>
            <a:rect l="l" t="t" r="r" b="b"/>
            <a:pathLst>
              <a:path w="698500" h="546100">
                <a:moveTo>
                  <a:pt x="82550" y="0"/>
                </a:moveTo>
                <a:lnTo>
                  <a:pt x="615950" y="0"/>
                </a:lnTo>
                <a:arcTo wR="82550" hR="82550" stAng="16200000" swAng="5400000"/>
                <a:lnTo>
                  <a:pt x="698500" y="463550"/>
                </a:lnTo>
                <a:arcTo wR="82550" hR="82550" stAng="0" swAng="5400000"/>
                <a:lnTo>
                  <a:pt x="82550" y="546100"/>
                </a:lnTo>
                <a:arcTo wR="82550" hR="82550" stAng="5400000" swAng="5400000"/>
                <a:lnTo>
                  <a:pt x="0" y="82550"/>
                </a:lnTo>
                <a:arcTo wR="82550" hR="82550" stAng="10800000" swAng="5400000"/>
                <a:close/>
              </a:path>
            </a:pathLst>
          </a:custGeom>
          <a:solidFill>
            <a:srgbClr val="FBFAF7"/>
          </a:solidFill>
          <a:ln w="12700">
            <a:solidFill>
              <a:srgbClr val="DCD8CE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4194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369550" y="2175371"/>
            <a:ext cx="698500" cy="546100"/>
          </a:xfrm>
          <a:custGeom>
            <a:avLst/>
            <a:gdLst/>
            <a:ahLst/>
            <a:cxnLst/>
            <a:rect l="l" t="t" r="r" b="b"/>
            <a:pathLst>
              <a:path w="698500" h="546100">
                <a:moveTo>
                  <a:pt x="82550" y="0"/>
                </a:moveTo>
                <a:lnTo>
                  <a:pt x="615950" y="0"/>
                </a:lnTo>
                <a:arcTo wR="82550" hR="82550" stAng="16200000" swAng="5400000"/>
                <a:lnTo>
                  <a:pt x="698500" y="463550"/>
                </a:lnTo>
                <a:arcTo wR="82550" hR="82550" stAng="0" swAng="5400000"/>
                <a:lnTo>
                  <a:pt x="82550" y="546100"/>
                </a:lnTo>
                <a:arcTo wR="82550" hR="82550" stAng="5400000" swAng="5400000"/>
                <a:lnTo>
                  <a:pt x="0" y="82550"/>
                </a:lnTo>
                <a:arcTo wR="82550" hR="82550" stAng="10800000" swAng="5400000"/>
                <a:close/>
              </a:path>
            </a:pathLst>
          </a:custGeom>
          <a:solidFill>
            <a:srgbClr val="FBFAF7"/>
          </a:solidFill>
          <a:ln w="12700">
            <a:solidFill>
              <a:srgbClr val="DCD8CE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4194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200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705600" y="2858691"/>
            <a:ext cx="196215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 = 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05600" y="3120231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300 &gt; 100: troca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769350" y="2823071"/>
            <a:ext cx="698500" cy="546100"/>
          </a:xfrm>
          <a:custGeom>
            <a:avLst/>
            <a:gdLst/>
            <a:ahLst/>
            <a:cxnLst/>
            <a:rect l="l" t="t" r="r" b="b"/>
            <a:pathLst>
              <a:path w="698500" h="546100">
                <a:moveTo>
                  <a:pt x="82550" y="0"/>
                </a:moveTo>
                <a:lnTo>
                  <a:pt x="615950" y="0"/>
                </a:lnTo>
                <a:arcTo wR="82550" hR="82550" stAng="16200000" swAng="5400000"/>
                <a:lnTo>
                  <a:pt x="698500" y="463550"/>
                </a:lnTo>
                <a:arcTo wR="82550" hR="82550" stAng="0" swAng="5400000"/>
                <a:lnTo>
                  <a:pt x="82550" y="546100"/>
                </a:lnTo>
                <a:arcTo wR="82550" hR="82550" stAng="5400000" swAng="5400000"/>
                <a:lnTo>
                  <a:pt x="0" y="82550"/>
                </a:lnTo>
                <a:arcTo wR="82550" hR="82550" stAng="10800000" swAng="5400000"/>
                <a:close/>
              </a:path>
            </a:pathLst>
          </a:cu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4194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300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569450" y="2823071"/>
            <a:ext cx="698500" cy="546100"/>
          </a:xfrm>
          <a:custGeom>
            <a:avLst/>
            <a:gdLst/>
            <a:ahLst/>
            <a:cxnLst/>
            <a:rect l="l" t="t" r="r" b="b"/>
            <a:pathLst>
              <a:path w="698500" h="546100">
                <a:moveTo>
                  <a:pt x="82550" y="0"/>
                </a:moveTo>
                <a:lnTo>
                  <a:pt x="615950" y="0"/>
                </a:lnTo>
                <a:arcTo wR="82550" hR="82550" stAng="16200000" swAng="5400000"/>
                <a:lnTo>
                  <a:pt x="698500" y="463550"/>
                </a:lnTo>
                <a:arcTo wR="82550" hR="82550" stAng="0" swAng="5400000"/>
                <a:lnTo>
                  <a:pt x="82550" y="546100"/>
                </a:lnTo>
                <a:arcTo wR="82550" hR="82550" stAng="5400000" swAng="5400000"/>
                <a:lnTo>
                  <a:pt x="0" y="82550"/>
                </a:lnTo>
                <a:arcTo wR="82550" hR="82550" stAng="10800000" swAng="5400000"/>
                <a:close/>
              </a:path>
            </a:pathLst>
          </a:cu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4194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100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369550" y="2823071"/>
            <a:ext cx="698500" cy="546100"/>
          </a:xfrm>
          <a:custGeom>
            <a:avLst/>
            <a:gdLst/>
            <a:ahLst/>
            <a:cxnLst/>
            <a:rect l="l" t="t" r="r" b="b"/>
            <a:pathLst>
              <a:path w="698500" h="546100">
                <a:moveTo>
                  <a:pt x="82550" y="0"/>
                </a:moveTo>
                <a:lnTo>
                  <a:pt x="615950" y="0"/>
                </a:lnTo>
                <a:arcTo wR="82550" hR="82550" stAng="16200000" swAng="5400000"/>
                <a:lnTo>
                  <a:pt x="698500" y="463550"/>
                </a:lnTo>
                <a:arcTo wR="82550" hR="82550" stAng="0" swAng="5400000"/>
                <a:lnTo>
                  <a:pt x="82550" y="546100"/>
                </a:lnTo>
                <a:arcTo wR="82550" hR="82550" stAng="5400000" swAng="5400000"/>
                <a:lnTo>
                  <a:pt x="0" y="82550"/>
                </a:lnTo>
                <a:arcTo wR="82550" hR="82550" stAng="10800000" swAng="5400000"/>
                <a:close/>
              </a:path>
            </a:pathLst>
          </a:custGeom>
          <a:solidFill>
            <a:srgbClr val="FBFAF7"/>
          </a:solidFill>
          <a:ln w="12700">
            <a:solidFill>
              <a:srgbClr val="DCD8CE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4194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200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705600" y="3506391"/>
            <a:ext cx="196215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 = 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05600" y="3767931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300 &gt; 200: troca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769350" y="3470771"/>
            <a:ext cx="698500" cy="546100"/>
          </a:xfrm>
          <a:custGeom>
            <a:avLst/>
            <a:gdLst/>
            <a:ahLst/>
            <a:cxnLst/>
            <a:rect l="l" t="t" r="r" b="b"/>
            <a:pathLst>
              <a:path w="698500" h="546100">
                <a:moveTo>
                  <a:pt x="82550" y="0"/>
                </a:moveTo>
                <a:lnTo>
                  <a:pt x="615950" y="0"/>
                </a:lnTo>
                <a:arcTo wR="82550" hR="82550" stAng="16200000" swAng="5400000"/>
                <a:lnTo>
                  <a:pt x="698500" y="463550"/>
                </a:lnTo>
                <a:arcTo wR="82550" hR="82550" stAng="0" swAng="5400000"/>
                <a:lnTo>
                  <a:pt x="82550" y="546100"/>
                </a:lnTo>
                <a:arcTo wR="82550" hR="82550" stAng="5400000" swAng="5400000"/>
                <a:lnTo>
                  <a:pt x="0" y="82550"/>
                </a:lnTo>
                <a:arcTo wR="82550" hR="82550" stAng="10800000" swAng="5400000"/>
                <a:close/>
              </a:path>
            </a:pathLst>
          </a:custGeom>
          <a:solidFill>
            <a:srgbClr val="FBFAF7"/>
          </a:solidFill>
          <a:ln w="12700">
            <a:solidFill>
              <a:srgbClr val="DCD8CE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4194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100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569450" y="3470771"/>
            <a:ext cx="698500" cy="546100"/>
          </a:xfrm>
          <a:custGeom>
            <a:avLst/>
            <a:gdLst/>
            <a:ahLst/>
            <a:cxnLst/>
            <a:rect l="l" t="t" r="r" b="b"/>
            <a:pathLst>
              <a:path w="698500" h="546100">
                <a:moveTo>
                  <a:pt x="82550" y="0"/>
                </a:moveTo>
                <a:lnTo>
                  <a:pt x="615950" y="0"/>
                </a:lnTo>
                <a:arcTo wR="82550" hR="82550" stAng="16200000" swAng="5400000"/>
                <a:lnTo>
                  <a:pt x="698500" y="463550"/>
                </a:lnTo>
                <a:arcTo wR="82550" hR="82550" stAng="0" swAng="5400000"/>
                <a:lnTo>
                  <a:pt x="82550" y="546100"/>
                </a:lnTo>
                <a:arcTo wR="82550" hR="82550" stAng="5400000" swAng="5400000"/>
                <a:lnTo>
                  <a:pt x="0" y="82550"/>
                </a:lnTo>
                <a:arcTo wR="82550" hR="82550" stAng="10800000" swAng="5400000"/>
                <a:close/>
              </a:path>
            </a:pathLst>
          </a:cu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4194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300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369550" y="3470771"/>
            <a:ext cx="698500" cy="546100"/>
          </a:xfrm>
          <a:custGeom>
            <a:avLst/>
            <a:gdLst/>
            <a:ahLst/>
            <a:cxnLst/>
            <a:rect l="l" t="t" r="r" b="b"/>
            <a:pathLst>
              <a:path w="698500" h="546100">
                <a:moveTo>
                  <a:pt x="82550" y="0"/>
                </a:moveTo>
                <a:lnTo>
                  <a:pt x="615950" y="0"/>
                </a:lnTo>
                <a:arcTo wR="82550" hR="82550" stAng="16200000" swAng="5400000"/>
                <a:lnTo>
                  <a:pt x="698500" y="463550"/>
                </a:lnTo>
                <a:arcTo wR="82550" hR="82550" stAng="0" swAng="5400000"/>
                <a:lnTo>
                  <a:pt x="82550" y="546100"/>
                </a:lnTo>
                <a:arcTo wR="82550" hR="82550" stAng="5400000" swAng="5400000"/>
                <a:lnTo>
                  <a:pt x="0" y="82550"/>
                </a:lnTo>
                <a:arcTo wR="82550" hR="82550" stAng="10800000" swAng="5400000"/>
                <a:close/>
              </a:path>
            </a:pathLst>
          </a:cu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4194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200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705600" y="4154091"/>
            <a:ext cx="196215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Fim da passagem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05600" y="4415631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maior código no fim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769350" y="4118471"/>
            <a:ext cx="698500" cy="546100"/>
          </a:xfrm>
          <a:custGeom>
            <a:avLst/>
            <a:gdLst/>
            <a:ahLst/>
            <a:cxnLst/>
            <a:rect l="l" t="t" r="r" b="b"/>
            <a:pathLst>
              <a:path w="698500" h="546100">
                <a:moveTo>
                  <a:pt x="82550" y="0"/>
                </a:moveTo>
                <a:lnTo>
                  <a:pt x="615950" y="0"/>
                </a:lnTo>
                <a:arcTo wR="82550" hR="82550" stAng="16200000" swAng="5400000"/>
                <a:lnTo>
                  <a:pt x="698500" y="463550"/>
                </a:lnTo>
                <a:arcTo wR="82550" hR="82550" stAng="0" swAng="5400000"/>
                <a:lnTo>
                  <a:pt x="82550" y="546100"/>
                </a:lnTo>
                <a:arcTo wR="82550" hR="82550" stAng="5400000" swAng="5400000"/>
                <a:lnTo>
                  <a:pt x="0" y="82550"/>
                </a:lnTo>
                <a:arcTo wR="82550" hR="82550" stAng="10800000" swAng="5400000"/>
                <a:close/>
              </a:path>
            </a:pathLst>
          </a:custGeom>
          <a:solidFill>
            <a:srgbClr val="0B6E60"/>
          </a:solidFill>
          <a:ln w="12700">
            <a:solidFill>
              <a:srgbClr val="0B6E60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4194"/>
              </a:lnSpc>
              <a:buNone/>
            </a:pPr>
            <a:r>
              <a:rPr lang="en-US" sz="1800" b="1" dirty="0">
                <a:solidFill>
                  <a:srgbClr val="F5F3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100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569450" y="4118471"/>
            <a:ext cx="698500" cy="546100"/>
          </a:xfrm>
          <a:custGeom>
            <a:avLst/>
            <a:gdLst/>
            <a:ahLst/>
            <a:cxnLst/>
            <a:rect l="l" t="t" r="r" b="b"/>
            <a:pathLst>
              <a:path w="698500" h="546100">
                <a:moveTo>
                  <a:pt x="82550" y="0"/>
                </a:moveTo>
                <a:lnTo>
                  <a:pt x="615950" y="0"/>
                </a:lnTo>
                <a:arcTo wR="82550" hR="82550" stAng="16200000" swAng="5400000"/>
                <a:lnTo>
                  <a:pt x="698500" y="463550"/>
                </a:lnTo>
                <a:arcTo wR="82550" hR="82550" stAng="0" swAng="5400000"/>
                <a:lnTo>
                  <a:pt x="82550" y="546100"/>
                </a:lnTo>
                <a:arcTo wR="82550" hR="82550" stAng="5400000" swAng="5400000"/>
                <a:lnTo>
                  <a:pt x="0" y="82550"/>
                </a:lnTo>
                <a:arcTo wR="82550" hR="82550" stAng="10800000" swAng="5400000"/>
                <a:close/>
              </a:path>
            </a:pathLst>
          </a:custGeom>
          <a:solidFill>
            <a:srgbClr val="0B6E60"/>
          </a:solidFill>
          <a:ln w="12700">
            <a:solidFill>
              <a:srgbClr val="0B6E60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4194"/>
              </a:lnSpc>
              <a:buNone/>
            </a:pPr>
            <a:r>
              <a:rPr lang="en-US" sz="1800" b="1" dirty="0">
                <a:solidFill>
                  <a:srgbClr val="F5F3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200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369550" y="4118471"/>
            <a:ext cx="698500" cy="546100"/>
          </a:xfrm>
          <a:custGeom>
            <a:avLst/>
            <a:gdLst/>
            <a:ahLst/>
            <a:cxnLst/>
            <a:rect l="l" t="t" r="r" b="b"/>
            <a:pathLst>
              <a:path w="698500" h="546100">
                <a:moveTo>
                  <a:pt x="82550" y="0"/>
                </a:moveTo>
                <a:lnTo>
                  <a:pt x="615950" y="0"/>
                </a:lnTo>
                <a:arcTo wR="82550" hR="82550" stAng="16200000" swAng="5400000"/>
                <a:lnTo>
                  <a:pt x="698500" y="463550"/>
                </a:lnTo>
                <a:arcTo wR="82550" hR="82550" stAng="0" swAng="5400000"/>
                <a:lnTo>
                  <a:pt x="82550" y="546100"/>
                </a:lnTo>
                <a:arcTo wR="82550" hR="82550" stAng="5400000" swAng="5400000"/>
                <a:lnTo>
                  <a:pt x="0" y="82550"/>
                </a:lnTo>
                <a:arcTo wR="82550" hR="82550" stAng="10800000" swAng="5400000"/>
                <a:close/>
              </a:path>
            </a:pathLst>
          </a:custGeom>
          <a:solidFill>
            <a:srgbClr val="0B6E60"/>
          </a:solidFill>
          <a:ln w="12700">
            <a:solidFill>
              <a:srgbClr val="0B6E60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4194"/>
              </a:lnSpc>
              <a:buNone/>
            </a:pPr>
            <a:r>
              <a:rPr lang="en-US" sz="1800" b="1" dirty="0">
                <a:solidFill>
                  <a:srgbClr val="F5F3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300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97656" y="5285647"/>
            <a:ext cx="847740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Compara vizinhos e troca os que estão fora de ordem, até o estoque ficar ordenado pelo código.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ERP Distribuidora · Sistema de Gerenciamento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/ 11</a:t>
            </a:r>
            <a:endParaRPr lang="en-US" sz="1200" dirty="0"/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589D8AD1-116F-21AC-A072-457C3942C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75" y="2455960"/>
            <a:ext cx="6407802" cy="13610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BUSCA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50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Busca binária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5975" y="1834455"/>
            <a:ext cx="5073650" cy="3571677"/>
          </a:xfrm>
          <a:prstGeom prst="roundRect">
            <a:avLst>
              <a:gd name="adj" fmla="val 3467"/>
            </a:avLst>
          </a:prstGeom>
          <a:solidFill>
            <a:srgbClr val="16263D"/>
          </a:solidFill>
          <a:ln w="6350">
            <a:solidFill>
              <a:srgbClr val="2A3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066230"/>
            <a:ext cx="469607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F93A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buscar_produto()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3150" y="2317651"/>
            <a:ext cx="469607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inicio = 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3150" y="2604591"/>
            <a:ext cx="469607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fim = len(estoque) - 1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3150" y="2891532"/>
            <a:ext cx="469607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2A54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while</a:t>
            </a:r>
            <a:r>
              <a:rPr lang="en-US" sz="14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inicio &lt;= fim: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73150" y="3178473"/>
            <a:ext cx="4559300" cy="274241"/>
          </a:xfrm>
          <a:prstGeom prst="roundRect">
            <a:avLst>
              <a:gd name="adj" fmla="val 18524"/>
            </a:avLst>
          </a:prstGeom>
          <a:solidFill>
            <a:srgbClr val="F2A541">
              <a:alpha val="18000"/>
            </a:srgbClr>
          </a:solidFill>
          <a:ln/>
        </p:spPr>
        <p:txBody>
          <a:bodyPr wrap="square" lIns="315321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2A54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meio = (inicio + fim) // 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7150" y="3490813"/>
            <a:ext cx="443445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2A54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</a:t>
            </a:r>
            <a:r>
              <a:rPr lang="en-US" sz="14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codigo_busca == estoque[meio][0]: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81150" y="3777754"/>
            <a:ext cx="417283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print(</a:t>
            </a:r>
            <a:r>
              <a:rPr lang="en-US" sz="1400" dirty="0">
                <a:solidFill>
                  <a:srgbClr val="7FD6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"Produto encontrado!"</a:t>
            </a:r>
            <a:r>
              <a:rPr lang="en-US" sz="14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7150" y="4064695"/>
            <a:ext cx="443445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2A54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elif</a:t>
            </a:r>
            <a:r>
              <a:rPr lang="en-US" sz="14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codigo_busca &gt; estoque[meio][0]: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81150" y="4351635"/>
            <a:ext cx="417283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inicio = meio + 1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7150" y="4638576"/>
            <a:ext cx="443445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2A54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elif</a:t>
            </a:r>
            <a:r>
              <a:rPr lang="en-US" sz="14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codigo_busca &lt; estoque[meio][0]: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81150" y="4925516"/>
            <a:ext cx="417283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fim = meio - 1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99200" y="1831280"/>
            <a:ext cx="52324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Passo 1 · buscando o código 400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99200" y="2174180"/>
            <a:ext cx="52324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A9B7C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inicio = 0 · fim = 4 · meio = 2 → 300 &lt; 400, então inicio = 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5550" y="2487811"/>
            <a:ext cx="749300" cy="469900"/>
          </a:xfrm>
          <a:custGeom>
            <a:avLst/>
            <a:gdLst/>
            <a:ahLst/>
            <a:cxnLst/>
            <a:rect l="l" t="t" r="r" b="b"/>
            <a:pathLst>
              <a:path w="749300" h="469900">
                <a:moveTo>
                  <a:pt x="82550" y="0"/>
                </a:moveTo>
                <a:lnTo>
                  <a:pt x="666750" y="0"/>
                </a:lnTo>
                <a:arcTo wR="82550" hR="82550" stAng="16200000" swAng="5400000"/>
                <a:lnTo>
                  <a:pt x="749300" y="387350"/>
                </a:lnTo>
                <a:arcTo wR="82550" hR="82550" stAng="0" swAng="5400000"/>
                <a:lnTo>
                  <a:pt x="82550" y="469900"/>
                </a:lnTo>
                <a:arcTo wR="82550" hR="82550" stAng="5400000" swAng="5400000"/>
                <a:lnTo>
                  <a:pt x="0" y="82550"/>
                </a:lnTo>
                <a:arcTo wR="82550" hR="82550" stAng="10800000" swAng="5400000"/>
                <a:close/>
              </a:path>
            </a:pathLst>
          </a:custGeom>
          <a:solidFill>
            <a:srgbClr val="16263D"/>
          </a:solidFill>
          <a:ln w="12700">
            <a:solidFill>
              <a:srgbClr val="3CC4AE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600" b="1" dirty="0">
                <a:solidFill>
                  <a:srgbClr val="F2EFE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56450" y="2487811"/>
            <a:ext cx="749300" cy="469900"/>
          </a:xfrm>
          <a:custGeom>
            <a:avLst/>
            <a:gdLst/>
            <a:ahLst/>
            <a:cxnLst/>
            <a:rect l="l" t="t" r="r" b="b"/>
            <a:pathLst>
              <a:path w="749300" h="469900">
                <a:moveTo>
                  <a:pt x="82550" y="0"/>
                </a:moveTo>
                <a:lnTo>
                  <a:pt x="666750" y="0"/>
                </a:lnTo>
                <a:arcTo wR="82550" hR="82550" stAng="16200000" swAng="5400000"/>
                <a:lnTo>
                  <a:pt x="749300" y="387350"/>
                </a:lnTo>
                <a:arcTo wR="82550" hR="82550" stAng="0" swAng="5400000"/>
                <a:lnTo>
                  <a:pt x="82550" y="469900"/>
                </a:lnTo>
                <a:arcTo wR="82550" hR="82550" stAng="5400000" swAng="5400000"/>
                <a:lnTo>
                  <a:pt x="0" y="82550"/>
                </a:lnTo>
                <a:arcTo wR="82550" hR="82550" stAng="10800000" swAng="5400000"/>
                <a:close/>
              </a:path>
            </a:pathLst>
          </a:custGeom>
          <a:solidFill>
            <a:srgbClr val="16263D"/>
          </a:solidFill>
          <a:ln w="12700">
            <a:solidFill>
              <a:srgbClr val="3CC4AE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600" b="1" dirty="0">
                <a:solidFill>
                  <a:srgbClr val="F2EFE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200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07350" y="2487811"/>
            <a:ext cx="749300" cy="469900"/>
          </a:xfrm>
          <a:custGeom>
            <a:avLst/>
            <a:gdLst/>
            <a:ahLst/>
            <a:cxnLst/>
            <a:rect l="l" t="t" r="r" b="b"/>
            <a:pathLst>
              <a:path w="749300" h="469900">
                <a:moveTo>
                  <a:pt x="82550" y="0"/>
                </a:moveTo>
                <a:lnTo>
                  <a:pt x="666750" y="0"/>
                </a:lnTo>
                <a:arcTo wR="82550" hR="82550" stAng="16200000" swAng="5400000"/>
                <a:lnTo>
                  <a:pt x="749300" y="387350"/>
                </a:lnTo>
                <a:arcTo wR="82550" hR="82550" stAng="0" swAng="5400000"/>
                <a:lnTo>
                  <a:pt x="82550" y="469900"/>
                </a:lnTo>
                <a:arcTo wR="82550" hR="82550" stAng="5400000" swAng="5400000"/>
                <a:lnTo>
                  <a:pt x="0" y="82550"/>
                </a:lnTo>
                <a:arcTo wR="82550" hR="82550" stAng="10800000" swAng="5400000"/>
                <a:close/>
              </a:path>
            </a:pathLst>
          </a:cu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300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858250" y="2487811"/>
            <a:ext cx="749300" cy="469900"/>
          </a:xfrm>
          <a:custGeom>
            <a:avLst/>
            <a:gdLst/>
            <a:ahLst/>
            <a:cxnLst/>
            <a:rect l="l" t="t" r="r" b="b"/>
            <a:pathLst>
              <a:path w="749300" h="469900">
                <a:moveTo>
                  <a:pt x="82550" y="0"/>
                </a:moveTo>
                <a:lnTo>
                  <a:pt x="666750" y="0"/>
                </a:lnTo>
                <a:arcTo wR="82550" hR="82550" stAng="16200000" swAng="5400000"/>
                <a:lnTo>
                  <a:pt x="749300" y="387350"/>
                </a:lnTo>
                <a:arcTo wR="82550" hR="82550" stAng="0" swAng="5400000"/>
                <a:lnTo>
                  <a:pt x="82550" y="469900"/>
                </a:lnTo>
                <a:arcTo wR="82550" hR="82550" stAng="5400000" swAng="5400000"/>
                <a:lnTo>
                  <a:pt x="0" y="82550"/>
                </a:lnTo>
                <a:arcTo wR="82550" hR="82550" stAng="10800000" swAng="5400000"/>
                <a:close/>
              </a:path>
            </a:pathLst>
          </a:custGeom>
          <a:solidFill>
            <a:srgbClr val="16263D"/>
          </a:solidFill>
          <a:ln w="12700">
            <a:solidFill>
              <a:srgbClr val="3CC4AE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600" b="1" dirty="0">
                <a:solidFill>
                  <a:srgbClr val="F2EFE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400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709150" y="2487811"/>
            <a:ext cx="749300" cy="469900"/>
          </a:xfrm>
          <a:custGeom>
            <a:avLst/>
            <a:gdLst/>
            <a:ahLst/>
            <a:cxnLst/>
            <a:rect l="l" t="t" r="r" b="b"/>
            <a:pathLst>
              <a:path w="749300" h="469900">
                <a:moveTo>
                  <a:pt x="82550" y="0"/>
                </a:moveTo>
                <a:lnTo>
                  <a:pt x="666750" y="0"/>
                </a:lnTo>
                <a:arcTo wR="82550" hR="82550" stAng="16200000" swAng="5400000"/>
                <a:lnTo>
                  <a:pt x="749300" y="387350"/>
                </a:lnTo>
                <a:arcTo wR="82550" hR="82550" stAng="0" swAng="5400000"/>
                <a:lnTo>
                  <a:pt x="82550" y="469900"/>
                </a:lnTo>
                <a:arcTo wR="82550" hR="82550" stAng="5400000" swAng="5400000"/>
                <a:lnTo>
                  <a:pt x="0" y="82550"/>
                </a:lnTo>
                <a:arcTo wR="82550" hR="82550" stAng="10800000" swAng="5400000"/>
                <a:close/>
              </a:path>
            </a:pathLst>
          </a:custGeom>
          <a:solidFill>
            <a:srgbClr val="16263D"/>
          </a:solidFill>
          <a:ln w="12700">
            <a:solidFill>
              <a:srgbClr val="3CC4AE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600" b="1" dirty="0">
                <a:solidFill>
                  <a:srgbClr val="F2EFE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500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99200" y="3141861"/>
            <a:ext cx="52324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Passo 2 · faixa reduzida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99200" y="3484761"/>
            <a:ext cx="52324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A9B7C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inicio = 3 · fim = 4 · meio = 3 → 400: produto encontrado!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5550" y="3798391"/>
            <a:ext cx="749300" cy="469900"/>
          </a:xfrm>
          <a:custGeom>
            <a:avLst/>
            <a:gdLst/>
            <a:ahLst/>
            <a:cxnLst/>
            <a:rect l="l" t="t" r="r" b="b"/>
            <a:pathLst>
              <a:path w="749300" h="469900">
                <a:moveTo>
                  <a:pt x="82550" y="0"/>
                </a:moveTo>
                <a:lnTo>
                  <a:pt x="666750" y="0"/>
                </a:lnTo>
                <a:arcTo wR="82550" hR="82550" stAng="16200000" swAng="5400000"/>
                <a:lnTo>
                  <a:pt x="749300" y="387350"/>
                </a:lnTo>
                <a:arcTo wR="82550" hR="82550" stAng="0" swAng="5400000"/>
                <a:lnTo>
                  <a:pt x="82550" y="469900"/>
                </a:lnTo>
                <a:arcTo wR="82550" hR="82550" stAng="5400000" swAng="5400000"/>
                <a:lnTo>
                  <a:pt x="0" y="82550"/>
                </a:lnTo>
                <a:arcTo wR="82550" hR="82550" stAng="10800000" swAng="5400000"/>
                <a:close/>
              </a:path>
            </a:pathLst>
          </a:custGeom>
          <a:solidFill>
            <a:srgbClr val="16263D">
              <a:alpha val="35000"/>
            </a:srgbClr>
          </a:solidFill>
          <a:ln w="12700">
            <a:solidFill>
              <a:srgbClr val="2A3F5E">
                <a:alpha val="35000"/>
              </a:srgbClr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600" b="1" dirty="0">
                <a:solidFill>
                  <a:srgbClr val="F2EFE8">
                    <a:alpha val="35000"/>
                  </a:srgbClr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100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56450" y="3798391"/>
            <a:ext cx="749300" cy="469900"/>
          </a:xfrm>
          <a:custGeom>
            <a:avLst/>
            <a:gdLst/>
            <a:ahLst/>
            <a:cxnLst/>
            <a:rect l="l" t="t" r="r" b="b"/>
            <a:pathLst>
              <a:path w="749300" h="469900">
                <a:moveTo>
                  <a:pt x="82550" y="0"/>
                </a:moveTo>
                <a:lnTo>
                  <a:pt x="666750" y="0"/>
                </a:lnTo>
                <a:arcTo wR="82550" hR="82550" stAng="16200000" swAng="5400000"/>
                <a:lnTo>
                  <a:pt x="749300" y="387350"/>
                </a:lnTo>
                <a:arcTo wR="82550" hR="82550" stAng="0" swAng="5400000"/>
                <a:lnTo>
                  <a:pt x="82550" y="469900"/>
                </a:lnTo>
                <a:arcTo wR="82550" hR="82550" stAng="5400000" swAng="5400000"/>
                <a:lnTo>
                  <a:pt x="0" y="82550"/>
                </a:lnTo>
                <a:arcTo wR="82550" hR="82550" stAng="10800000" swAng="5400000"/>
                <a:close/>
              </a:path>
            </a:pathLst>
          </a:custGeom>
          <a:solidFill>
            <a:srgbClr val="16263D">
              <a:alpha val="35000"/>
            </a:srgbClr>
          </a:solidFill>
          <a:ln w="12700">
            <a:solidFill>
              <a:srgbClr val="2A3F5E">
                <a:alpha val="35000"/>
              </a:srgbClr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600" b="1" dirty="0">
                <a:solidFill>
                  <a:srgbClr val="F2EFE8">
                    <a:alpha val="35000"/>
                  </a:srgbClr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200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007350" y="3798391"/>
            <a:ext cx="749300" cy="469900"/>
          </a:xfrm>
          <a:custGeom>
            <a:avLst/>
            <a:gdLst/>
            <a:ahLst/>
            <a:cxnLst/>
            <a:rect l="l" t="t" r="r" b="b"/>
            <a:pathLst>
              <a:path w="749300" h="469900">
                <a:moveTo>
                  <a:pt x="82550" y="0"/>
                </a:moveTo>
                <a:lnTo>
                  <a:pt x="666750" y="0"/>
                </a:lnTo>
                <a:arcTo wR="82550" hR="82550" stAng="16200000" swAng="5400000"/>
                <a:lnTo>
                  <a:pt x="749300" y="387350"/>
                </a:lnTo>
                <a:arcTo wR="82550" hR="82550" stAng="0" swAng="5400000"/>
                <a:lnTo>
                  <a:pt x="82550" y="469900"/>
                </a:lnTo>
                <a:arcTo wR="82550" hR="82550" stAng="5400000" swAng="5400000"/>
                <a:lnTo>
                  <a:pt x="0" y="82550"/>
                </a:lnTo>
                <a:arcTo wR="82550" hR="82550" stAng="10800000" swAng="5400000"/>
                <a:close/>
              </a:path>
            </a:pathLst>
          </a:custGeom>
          <a:solidFill>
            <a:srgbClr val="16263D">
              <a:alpha val="35000"/>
            </a:srgbClr>
          </a:solidFill>
          <a:ln w="12700">
            <a:solidFill>
              <a:srgbClr val="2A3F5E">
                <a:alpha val="35000"/>
              </a:srgbClr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600" b="1" dirty="0">
                <a:solidFill>
                  <a:srgbClr val="F2EFE8">
                    <a:alpha val="35000"/>
                  </a:srgbClr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300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858250" y="3798391"/>
            <a:ext cx="749300" cy="469900"/>
          </a:xfrm>
          <a:custGeom>
            <a:avLst/>
            <a:gdLst/>
            <a:ahLst/>
            <a:cxnLst/>
            <a:rect l="l" t="t" r="r" b="b"/>
            <a:pathLst>
              <a:path w="749300" h="469900">
                <a:moveTo>
                  <a:pt x="82550" y="0"/>
                </a:moveTo>
                <a:lnTo>
                  <a:pt x="666750" y="0"/>
                </a:lnTo>
                <a:arcTo wR="82550" hR="82550" stAng="16200000" swAng="5400000"/>
                <a:lnTo>
                  <a:pt x="749300" y="387350"/>
                </a:lnTo>
                <a:arcTo wR="82550" hR="82550" stAng="0" swAng="5400000"/>
                <a:lnTo>
                  <a:pt x="82550" y="469900"/>
                </a:lnTo>
                <a:arcTo wR="82550" hR="82550" stAng="5400000" swAng="5400000"/>
                <a:lnTo>
                  <a:pt x="0" y="82550"/>
                </a:lnTo>
                <a:arcTo wR="82550" hR="82550" stAng="10800000" swAng="5400000"/>
                <a:close/>
              </a:path>
            </a:pathLst>
          </a:cu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400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709150" y="3798391"/>
            <a:ext cx="749300" cy="469900"/>
          </a:xfrm>
          <a:custGeom>
            <a:avLst/>
            <a:gdLst/>
            <a:ahLst/>
            <a:cxnLst/>
            <a:rect l="l" t="t" r="r" b="b"/>
            <a:pathLst>
              <a:path w="749300" h="469900">
                <a:moveTo>
                  <a:pt x="82550" y="0"/>
                </a:moveTo>
                <a:lnTo>
                  <a:pt x="666750" y="0"/>
                </a:lnTo>
                <a:arcTo wR="82550" hR="82550" stAng="16200000" swAng="5400000"/>
                <a:lnTo>
                  <a:pt x="749300" y="387350"/>
                </a:lnTo>
                <a:arcTo wR="82550" hR="82550" stAng="0" swAng="5400000"/>
                <a:lnTo>
                  <a:pt x="82550" y="469900"/>
                </a:lnTo>
                <a:arcTo wR="82550" hR="82550" stAng="5400000" swAng="5400000"/>
                <a:lnTo>
                  <a:pt x="0" y="82550"/>
                </a:lnTo>
                <a:arcTo wR="82550" hR="82550" stAng="10800000" swAng="5400000"/>
                <a:close/>
              </a:path>
            </a:pathLst>
          </a:custGeom>
          <a:solidFill>
            <a:srgbClr val="16263D"/>
          </a:solidFill>
          <a:ln w="12700">
            <a:solidFill>
              <a:srgbClr val="3CC4AE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600" b="1" dirty="0">
                <a:solidFill>
                  <a:srgbClr val="F2EFE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500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18250" y="4452441"/>
            <a:ext cx="0" cy="800100"/>
          </a:xfrm>
          <a:prstGeom prst="line">
            <a:avLst/>
          </a:prstGeom>
          <a:noFill/>
          <a:ln w="38100">
            <a:solidFill>
              <a:srgbClr val="F2A54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89700" y="4452441"/>
            <a:ext cx="5036185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Antes da busca, o estoque é ordenado pelo código. A cada comparação, o espaço de procura cai pela metade: complexidade O(log n).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DA0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ERP Distribuidora · Sistema de Gerenciamento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DA0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 / 11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0B6E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PEDIDOS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50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Fila de pedidos com prioridade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5975" y="1783655"/>
            <a:ext cx="4057650" cy="463550"/>
          </a:xfrm>
          <a:prstGeom prst="roundRect">
            <a:avLst>
              <a:gd name="adj" fmla="val 21233"/>
            </a:avLst>
          </a:prstGeom>
          <a:solidFill>
            <a:srgbClr val="FBFAF7"/>
          </a:solidFill>
          <a:ln w="6350">
            <a:solidFill>
              <a:srgbClr val="DCD8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9950" y="183763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76200" y="0"/>
                </a:moveTo>
                <a:lnTo>
                  <a:pt x="279400" y="0"/>
                </a:lnTo>
                <a:arcTo wR="76200" hR="76200" stAng="16200000" swAng="5400000"/>
                <a:lnTo>
                  <a:pt x="355600" y="279400"/>
                </a:lnTo>
                <a:arcTo wR="76200" hR="76200" stAng="0" swAng="5400000"/>
                <a:lnTo>
                  <a:pt x="76200" y="35560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F2A54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805"/>
              </a:lnSpc>
              <a:buNone/>
            </a:pPr>
            <a:r>
              <a:rPr lang="en-US" sz="15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52550" y="1873151"/>
            <a:ext cx="2713553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Alta</a:t>
            </a:r>
            <a:r>
              <a:rPr lang="en-US" sz="160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processa primeiro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15975" y="2329755"/>
            <a:ext cx="4057650" cy="463550"/>
          </a:xfrm>
          <a:prstGeom prst="roundRect">
            <a:avLst>
              <a:gd name="adj" fmla="val 21233"/>
            </a:avLst>
          </a:prstGeom>
          <a:solidFill>
            <a:srgbClr val="FBFAF7"/>
          </a:solidFill>
          <a:ln w="6350">
            <a:solidFill>
              <a:srgbClr val="DCD8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9950" y="238373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76200" y="0"/>
                </a:moveTo>
                <a:lnTo>
                  <a:pt x="279400" y="0"/>
                </a:lnTo>
                <a:arcTo wR="76200" hR="76200" stAng="16200000" swAng="5400000"/>
                <a:lnTo>
                  <a:pt x="355600" y="279400"/>
                </a:lnTo>
                <a:arcTo wR="76200" hR="76200" stAng="0" swAng="5400000"/>
                <a:lnTo>
                  <a:pt x="76200" y="35560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F6CC8A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805"/>
              </a:lnSpc>
              <a:buNone/>
            </a:pPr>
            <a:r>
              <a:rPr lang="en-US" sz="15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52550" y="2419251"/>
            <a:ext cx="331422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Média</a:t>
            </a:r>
            <a:r>
              <a:rPr lang="en-US" sz="160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processa em seguida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5975" y="2875855"/>
            <a:ext cx="4057650" cy="463550"/>
          </a:xfrm>
          <a:prstGeom prst="roundRect">
            <a:avLst>
              <a:gd name="adj" fmla="val 21233"/>
            </a:avLst>
          </a:prstGeom>
          <a:solidFill>
            <a:srgbClr val="FBFAF7"/>
          </a:solidFill>
          <a:ln w="6350">
            <a:solidFill>
              <a:srgbClr val="DCD8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9950" y="292983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76200" y="0"/>
                </a:moveTo>
                <a:lnTo>
                  <a:pt x="279400" y="0"/>
                </a:lnTo>
                <a:arcTo wR="76200" hR="76200" stAng="16200000" swAng="5400000"/>
                <a:lnTo>
                  <a:pt x="355600" y="279400"/>
                </a:lnTo>
                <a:arcTo wR="76200" hR="76200" stAng="0" swAng="5400000"/>
                <a:lnTo>
                  <a:pt x="76200" y="35560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E3DDCF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805"/>
              </a:lnSpc>
              <a:buNone/>
            </a:pPr>
            <a:r>
              <a:rPr lang="en-US" sz="15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52550" y="2965351"/>
            <a:ext cx="308776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Baixa</a:t>
            </a:r>
            <a:r>
              <a:rPr lang="en-US" sz="160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processa por último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81600" y="1780480"/>
            <a:ext cx="6197600" cy="1747242"/>
          </a:xfrm>
          <a:prstGeom prst="roundRect">
            <a:avLst>
              <a:gd name="adj" fmla="val 7269"/>
            </a:avLst>
          </a:prstGeom>
          <a:solidFill>
            <a:srgbClr val="0F1B2D"/>
          </a:solidFill>
          <a:ln/>
        </p:spPr>
      </p:sp>
      <p:sp>
        <p:nvSpPr>
          <p:cNvPr id="14" name="Text 12"/>
          <p:cNvSpPr/>
          <p:nvPr/>
        </p:nvSpPr>
        <p:spPr>
          <a:xfrm>
            <a:off x="5435600" y="2009080"/>
            <a:ext cx="58602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F93A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pedidos_prioridade()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35600" y="2260501"/>
            <a:ext cx="586028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indice_prioridade = 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35600" y="2529681"/>
            <a:ext cx="586028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2A54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</a:t>
            </a:r>
            <a:r>
              <a:rPr lang="en-US" sz="13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indice, pedido </a:t>
            </a:r>
            <a:r>
              <a:rPr lang="en-US" sz="1300" dirty="0">
                <a:solidFill>
                  <a:srgbClr val="F2A54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</a:t>
            </a:r>
            <a:r>
              <a:rPr lang="en-US" sz="13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enumerate(pedidos):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89600" y="2798862"/>
            <a:ext cx="559866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2A54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</a:t>
            </a:r>
            <a:r>
              <a:rPr lang="en-US" sz="13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pedido[4] &lt; pedidos[indice_prioridade][4]: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3068042"/>
            <a:ext cx="533704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indice_prioridade = indice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3730923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160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Exemplo: pedidos na ordem em que foram cadastrados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9150" y="4044553"/>
            <a:ext cx="3407767" cy="739080"/>
          </a:xfrm>
          <a:prstGeom prst="roundRect">
            <a:avLst>
              <a:gd name="adj" fmla="val 12888"/>
            </a:avLst>
          </a:prstGeom>
          <a:solidFill>
            <a:srgbClr val="FBFAF7"/>
          </a:solidFill>
          <a:ln w="12700">
            <a:solidFill>
              <a:srgbClr val="DCD8C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7900" y="4152503"/>
            <a:ext cx="318297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Pedido 1 · Luan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77900" y="4444603"/>
            <a:ext cx="318297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160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prioridade 3 (baixa)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392017" y="4044553"/>
            <a:ext cx="3407866" cy="739080"/>
          </a:xfrm>
          <a:prstGeom prst="roundRect">
            <a:avLst>
              <a:gd name="adj" fmla="val 12888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50767" y="4152503"/>
            <a:ext cx="318307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Pedido 2 · Marina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50767" y="4444603"/>
            <a:ext cx="318307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prioridade 1 (alta) · sai primeiro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964984" y="4044553"/>
            <a:ext cx="3407866" cy="739080"/>
          </a:xfrm>
          <a:prstGeom prst="roundRect">
            <a:avLst>
              <a:gd name="adj" fmla="val 12888"/>
            </a:avLst>
          </a:prstGeom>
          <a:solidFill>
            <a:srgbClr val="FBFAF7"/>
          </a:solidFill>
          <a:ln w="12700">
            <a:solidFill>
              <a:srgbClr val="DCD8C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23734" y="4152503"/>
            <a:ext cx="318307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Pedido 3 · Caio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123734" y="4444603"/>
            <a:ext cx="318307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160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prioridade 2 (média)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31850" y="4993184"/>
            <a:ext cx="0" cy="533400"/>
          </a:xfrm>
          <a:prstGeom prst="line">
            <a:avLst/>
          </a:prstGeom>
          <a:noFill/>
          <a:ln w="38100">
            <a:solidFill>
              <a:srgbClr val="0B6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3300" y="4993184"/>
            <a:ext cx="1068717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Apesar de os pedidos serem armazenados em uma lista, o processamento considera a prioridade: o pedido de prioridade 1 é processado antes do 2 e do 3.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ERP Distribuidora · Sistema de Gerenciamento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 / 11</a:t>
            </a:r>
            <a:endParaRPr lang="en-US" sz="1200" dirty="0"/>
          </a:p>
        </p:txBody>
      </p:sp>
      <p:pic>
        <p:nvPicPr>
          <p:cNvPr id="34" name="Imagem 33">
            <a:extLst>
              <a:ext uri="{FF2B5EF4-FFF2-40B4-BE49-F238E27FC236}">
                <a16:creationId xmlns:a16="http://schemas.microsoft.com/office/drawing/2014/main" id="{21B1F7BB-6B5B-B05E-74C9-F0BB582CF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1551447"/>
            <a:ext cx="6197600" cy="23933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PEDIDOS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50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Processamento do pedido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2800" y="1831280"/>
            <a:ext cx="4826000" cy="436860"/>
          </a:xfrm>
          <a:prstGeom prst="roundRect">
            <a:avLst>
              <a:gd name="adj" fmla="val 17443"/>
            </a:avLst>
          </a:prstGeom>
          <a:solidFill>
            <a:srgbClr val="16263D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831280"/>
            <a:ext cx="4826000" cy="436860"/>
          </a:xfrm>
          <a:custGeom>
            <a:avLst/>
            <a:gdLst/>
            <a:ahLst/>
            <a:cxnLst/>
            <a:rect l="l" t="t" r="r" b="b"/>
            <a:pathLst>
              <a:path w="4826000" h="436860">
                <a:moveTo>
                  <a:pt x="76200" y="436860"/>
                </a:moveTo>
                <a:lnTo>
                  <a:pt x="76200" y="43686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360660"/>
                </a:lnTo>
                <a:arcTo wR="38100" hR="76200" stAng="10800000" swAng="-5400000"/>
                <a:close/>
              </a:path>
            </a:pathLst>
          </a:custGeom>
          <a:solidFill>
            <a:srgbClr val="3CC4AE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190996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3CC4AE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7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58900" y="1907480"/>
            <a:ext cx="2137291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Pedido cadastrado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2800" y="2331641"/>
            <a:ext cx="4826000" cy="436860"/>
          </a:xfrm>
          <a:prstGeom prst="roundRect">
            <a:avLst>
              <a:gd name="adj" fmla="val 17443"/>
            </a:avLst>
          </a:prstGeom>
          <a:solidFill>
            <a:srgbClr val="16263D"/>
          </a:solidFill>
          <a:ln/>
        </p:spPr>
      </p:sp>
      <p:sp>
        <p:nvSpPr>
          <p:cNvPr id="9" name="Shape 7"/>
          <p:cNvSpPr/>
          <p:nvPr/>
        </p:nvSpPr>
        <p:spPr>
          <a:xfrm>
            <a:off x="812800" y="2331641"/>
            <a:ext cx="4826000" cy="436860"/>
          </a:xfrm>
          <a:custGeom>
            <a:avLst/>
            <a:gdLst/>
            <a:ahLst/>
            <a:cxnLst/>
            <a:rect l="l" t="t" r="r" b="b"/>
            <a:pathLst>
              <a:path w="4826000" h="436860">
                <a:moveTo>
                  <a:pt x="76200" y="436860"/>
                </a:moveTo>
                <a:lnTo>
                  <a:pt x="76200" y="43686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360660"/>
                </a:lnTo>
                <a:arcTo wR="38100" hR="76200" stAng="10800000" swAng="-5400000"/>
                <a:close/>
              </a:path>
            </a:pathLst>
          </a:custGeom>
          <a:solidFill>
            <a:srgbClr val="3CC4AE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241032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3CC4AE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7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58900" y="2407841"/>
            <a:ext cx="208049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Verifica prioridade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2800" y="2832001"/>
            <a:ext cx="4826000" cy="436860"/>
          </a:xfrm>
          <a:prstGeom prst="roundRect">
            <a:avLst>
              <a:gd name="adj" fmla="val 17443"/>
            </a:avLst>
          </a:prstGeom>
          <a:solidFill>
            <a:srgbClr val="16263D"/>
          </a:solidFill>
          <a:ln/>
        </p:spPr>
      </p:sp>
      <p:sp>
        <p:nvSpPr>
          <p:cNvPr id="13" name="Shape 11"/>
          <p:cNvSpPr/>
          <p:nvPr/>
        </p:nvSpPr>
        <p:spPr>
          <a:xfrm>
            <a:off x="812800" y="2832001"/>
            <a:ext cx="4826000" cy="436860"/>
          </a:xfrm>
          <a:custGeom>
            <a:avLst/>
            <a:gdLst/>
            <a:ahLst/>
            <a:cxnLst/>
            <a:rect l="l" t="t" r="r" b="b"/>
            <a:pathLst>
              <a:path w="4826000" h="436860">
                <a:moveTo>
                  <a:pt x="76200" y="436860"/>
                </a:moveTo>
                <a:lnTo>
                  <a:pt x="76200" y="43686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360660"/>
                </a:lnTo>
                <a:arcTo wR="38100" hR="76200" stAng="10800000" swAng="-5400000"/>
                <a:close/>
              </a:path>
            </a:pathLst>
          </a:custGeom>
          <a:solidFill>
            <a:srgbClr val="3CC4AE"/>
          </a:solidFill>
          <a:ln/>
        </p:spPr>
      </p:sp>
      <p:sp>
        <p:nvSpPr>
          <p:cNvPr id="14" name="Text 12"/>
          <p:cNvSpPr/>
          <p:nvPr/>
        </p:nvSpPr>
        <p:spPr>
          <a:xfrm>
            <a:off x="952500" y="291068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3CC4AE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7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58900" y="2908201"/>
            <a:ext cx="313408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Seleciona pedido prioritário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2800" y="3332361"/>
            <a:ext cx="4826000" cy="436860"/>
          </a:xfrm>
          <a:prstGeom prst="roundRect">
            <a:avLst>
              <a:gd name="adj" fmla="val 17443"/>
            </a:avLst>
          </a:prstGeom>
          <a:solidFill>
            <a:srgbClr val="16263D"/>
          </a:solidFill>
          <a:ln/>
        </p:spPr>
      </p:sp>
      <p:sp>
        <p:nvSpPr>
          <p:cNvPr id="17" name="Shape 15"/>
          <p:cNvSpPr/>
          <p:nvPr/>
        </p:nvSpPr>
        <p:spPr>
          <a:xfrm>
            <a:off x="812800" y="3332361"/>
            <a:ext cx="4826000" cy="436860"/>
          </a:xfrm>
          <a:custGeom>
            <a:avLst/>
            <a:gdLst/>
            <a:ahLst/>
            <a:cxnLst/>
            <a:rect l="l" t="t" r="r" b="b"/>
            <a:pathLst>
              <a:path w="4826000" h="436860">
                <a:moveTo>
                  <a:pt x="76200" y="436860"/>
                </a:moveTo>
                <a:lnTo>
                  <a:pt x="76200" y="43686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360660"/>
                </a:lnTo>
                <a:arcTo wR="38100" hR="76200" stAng="10800000" swAng="-5400000"/>
                <a:close/>
              </a:path>
            </a:pathLst>
          </a:custGeom>
          <a:solidFill>
            <a:srgbClr val="3CC4AE"/>
          </a:solidFill>
          <a:ln/>
        </p:spPr>
      </p:sp>
      <p:sp>
        <p:nvSpPr>
          <p:cNvPr id="18" name="Text 16"/>
          <p:cNvSpPr/>
          <p:nvPr/>
        </p:nvSpPr>
        <p:spPr>
          <a:xfrm>
            <a:off x="952500" y="341104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3CC4AE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7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58900" y="3408561"/>
            <a:ext cx="315872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Verifica produto no estoque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2800" y="3832721"/>
            <a:ext cx="4826000" cy="436860"/>
          </a:xfrm>
          <a:prstGeom prst="roundRect">
            <a:avLst>
              <a:gd name="adj" fmla="val 17443"/>
            </a:avLst>
          </a:prstGeom>
          <a:solidFill>
            <a:srgbClr val="16263D"/>
          </a:solidFill>
          <a:ln/>
        </p:spPr>
      </p:sp>
      <p:sp>
        <p:nvSpPr>
          <p:cNvPr id="21" name="Shape 19"/>
          <p:cNvSpPr/>
          <p:nvPr/>
        </p:nvSpPr>
        <p:spPr>
          <a:xfrm>
            <a:off x="812800" y="3832721"/>
            <a:ext cx="4826000" cy="436860"/>
          </a:xfrm>
          <a:custGeom>
            <a:avLst/>
            <a:gdLst/>
            <a:ahLst/>
            <a:cxnLst/>
            <a:rect l="l" t="t" r="r" b="b"/>
            <a:pathLst>
              <a:path w="4826000" h="436860">
                <a:moveTo>
                  <a:pt x="76200" y="436860"/>
                </a:moveTo>
                <a:lnTo>
                  <a:pt x="76200" y="43686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360660"/>
                </a:lnTo>
                <a:arcTo wR="38100" hR="76200" stAng="10800000" swAng="-5400000"/>
                <a:close/>
              </a:path>
            </a:pathLst>
          </a:custGeom>
          <a:solidFill>
            <a:srgbClr val="3CC4AE"/>
          </a:solidFill>
          <a:ln/>
        </p:spPr>
      </p:sp>
      <p:sp>
        <p:nvSpPr>
          <p:cNvPr id="22" name="Text 20"/>
          <p:cNvSpPr/>
          <p:nvPr/>
        </p:nvSpPr>
        <p:spPr>
          <a:xfrm>
            <a:off x="952500" y="3911402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3CC4AE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7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58900" y="3908921"/>
            <a:ext cx="220146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Diminui quantidade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2800" y="4333081"/>
            <a:ext cx="4826000" cy="436860"/>
          </a:xfrm>
          <a:prstGeom prst="roundRect">
            <a:avLst>
              <a:gd name="adj" fmla="val 17443"/>
            </a:avLst>
          </a:prstGeom>
          <a:solidFill>
            <a:srgbClr val="16263D"/>
          </a:solidFill>
          <a:ln/>
        </p:spPr>
      </p:sp>
      <p:sp>
        <p:nvSpPr>
          <p:cNvPr id="25" name="Shape 23"/>
          <p:cNvSpPr/>
          <p:nvPr/>
        </p:nvSpPr>
        <p:spPr>
          <a:xfrm>
            <a:off x="812800" y="4333081"/>
            <a:ext cx="4826000" cy="436860"/>
          </a:xfrm>
          <a:custGeom>
            <a:avLst/>
            <a:gdLst/>
            <a:ahLst/>
            <a:cxnLst/>
            <a:rect l="l" t="t" r="r" b="b"/>
            <a:pathLst>
              <a:path w="4826000" h="436860">
                <a:moveTo>
                  <a:pt x="76200" y="436860"/>
                </a:moveTo>
                <a:lnTo>
                  <a:pt x="76200" y="43686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360660"/>
                </a:lnTo>
                <a:arcTo wR="38100" hR="76200" stAng="10800000" swAng="-5400000"/>
                <a:close/>
              </a:path>
            </a:pathLst>
          </a:custGeom>
          <a:solidFill>
            <a:srgbClr val="3CC4AE"/>
          </a:solidFill>
          <a:ln/>
        </p:spPr>
      </p:sp>
      <p:sp>
        <p:nvSpPr>
          <p:cNvPr id="26" name="Text 24"/>
          <p:cNvSpPr/>
          <p:nvPr/>
        </p:nvSpPr>
        <p:spPr>
          <a:xfrm>
            <a:off x="952500" y="4411762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3CC4AE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7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58900" y="4409281"/>
            <a:ext cx="249721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Remove pedido da fila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12800" y="4833441"/>
            <a:ext cx="4826000" cy="436860"/>
          </a:xfrm>
          <a:prstGeom prst="roundRect">
            <a:avLst>
              <a:gd name="adj" fmla="val 17443"/>
            </a:avLst>
          </a:prstGeom>
          <a:solidFill>
            <a:srgbClr val="F2A541"/>
          </a:solidFill>
          <a:ln/>
        </p:spPr>
      </p:sp>
      <p:sp>
        <p:nvSpPr>
          <p:cNvPr id="29" name="Shape 27"/>
          <p:cNvSpPr/>
          <p:nvPr/>
        </p:nvSpPr>
        <p:spPr>
          <a:xfrm>
            <a:off x="812800" y="4833441"/>
            <a:ext cx="4826000" cy="436860"/>
          </a:xfrm>
          <a:custGeom>
            <a:avLst/>
            <a:gdLst/>
            <a:ahLst/>
            <a:cxnLst/>
            <a:rect l="l" t="t" r="r" b="b"/>
            <a:pathLst>
              <a:path w="4826000" h="436860">
                <a:moveTo>
                  <a:pt x="76200" y="436860"/>
                </a:moveTo>
                <a:lnTo>
                  <a:pt x="76200" y="43686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360660"/>
                </a:lnTo>
                <a:arcTo wR="38100" hR="76200" stAng="10800000" swAng="-5400000"/>
                <a:close/>
              </a:path>
            </a:pathLst>
          </a:custGeom>
          <a:solidFill>
            <a:srgbClr val="F2A541"/>
          </a:solidFill>
          <a:ln/>
        </p:spPr>
      </p:sp>
      <p:sp>
        <p:nvSpPr>
          <p:cNvPr id="30" name="Text 28"/>
          <p:cNvSpPr/>
          <p:nvPr/>
        </p:nvSpPr>
        <p:spPr>
          <a:xfrm>
            <a:off x="952500" y="4912122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0F1B2D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7"/>
              </a:lnSpc>
              <a:buNone/>
            </a:pPr>
            <a:r>
              <a:rPr lang="en-US" sz="1300" b="1" dirty="0">
                <a:solidFill>
                  <a:srgbClr val="F2A5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358900" y="4909641"/>
            <a:ext cx="229421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Pedido processado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765800" y="2189361"/>
            <a:ext cx="6250189" cy="2472928"/>
          </a:xfrm>
          <a:prstGeom prst="roundRect">
            <a:avLst>
              <a:gd name="adj" fmla="val 6786"/>
            </a:avLst>
          </a:prstGeom>
          <a:solidFill>
            <a:srgbClr val="16263D"/>
          </a:solidFill>
          <a:ln w="6350">
            <a:solidFill>
              <a:srgbClr val="2A3F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45200" y="5081806"/>
            <a:ext cx="549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A9B7C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estoque só é atualizado quando o pedido é processado.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DA0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ERP Distribuidora · Sistema de Gerenciamento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DA0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 / 11</a:t>
            </a:r>
            <a:endParaRPr lang="en-US" sz="1200" dirty="0"/>
          </a:p>
        </p:txBody>
      </p:sp>
      <p:pic>
        <p:nvPicPr>
          <p:cNvPr id="47" name="Imagem 46">
            <a:extLst>
              <a:ext uri="{FF2B5EF4-FFF2-40B4-BE49-F238E27FC236}">
                <a16:creationId xmlns:a16="http://schemas.microsoft.com/office/drawing/2014/main" id="{199DAB9D-E9EA-4E8F-BE04-D4D19A0B0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500" y="2519859"/>
            <a:ext cx="6197002" cy="18909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0B6E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HISTÓRICO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50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Pilha: histórico de ações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12800" y="1831280"/>
            <a:ext cx="45783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0B6E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TOPO · ÚLTIMA AÇÃO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9150" y="2144911"/>
            <a:ext cx="4432300" cy="546100"/>
          </a:xfrm>
          <a:custGeom>
            <a:avLst/>
            <a:gdLst/>
            <a:ahLst/>
            <a:cxnLst/>
            <a:rect l="l" t="t" r="r" b="b"/>
            <a:pathLst>
              <a:path w="4432300" h="546100">
                <a:moveTo>
                  <a:pt x="95250" y="0"/>
                </a:moveTo>
                <a:lnTo>
                  <a:pt x="4337050" y="0"/>
                </a:lnTo>
                <a:arcTo wR="95250" hR="95250" stAng="16200000" swAng="5400000"/>
                <a:lnTo>
                  <a:pt x="4432300" y="450850"/>
                </a:lnTo>
                <a:arcTo wR="95250" hR="95250" stAng="0" swAng="5400000"/>
                <a:lnTo>
                  <a:pt x="95250" y="546100"/>
                </a:lnTo>
                <a:arcTo wR="95250" hR="95250" stAng="5400000" swAng="5400000"/>
                <a:lnTo>
                  <a:pt x="0" y="95250"/>
                </a:lnTo>
                <a:arcTo wR="95250" hR="95250" stAng="10800000" swAng="5400000"/>
                <a:close/>
              </a:path>
            </a:pathLst>
          </a:cu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4208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processar_pedido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9150" y="2779911"/>
            <a:ext cx="4432300" cy="546100"/>
          </a:xfrm>
          <a:custGeom>
            <a:avLst/>
            <a:gdLst/>
            <a:ahLst/>
            <a:cxnLst/>
            <a:rect l="l" t="t" r="r" b="b"/>
            <a:pathLst>
              <a:path w="4432300" h="546100">
                <a:moveTo>
                  <a:pt x="95250" y="0"/>
                </a:moveTo>
                <a:lnTo>
                  <a:pt x="4337050" y="0"/>
                </a:lnTo>
                <a:arcTo wR="95250" hR="95250" stAng="16200000" swAng="5400000"/>
                <a:lnTo>
                  <a:pt x="4432300" y="450850"/>
                </a:lnTo>
                <a:arcTo wR="95250" hR="95250" stAng="0" swAng="5400000"/>
                <a:lnTo>
                  <a:pt x="95250" y="546100"/>
                </a:lnTo>
                <a:arcTo wR="95250" hR="95250" stAng="5400000" swAng="5400000"/>
                <a:lnTo>
                  <a:pt x="0" y="95250"/>
                </a:lnTo>
                <a:arcTo wR="95250" hR="95250" stAng="10800000" swAng="5400000"/>
                <a:close/>
              </a:path>
            </a:pathLst>
          </a:custGeom>
          <a:solidFill>
            <a:srgbClr val="FBFAF7"/>
          </a:solidFill>
          <a:ln w="12700">
            <a:solidFill>
              <a:srgbClr val="DCD8CE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4208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cadastrar_pedido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9150" y="3414911"/>
            <a:ext cx="4432300" cy="546100"/>
          </a:xfrm>
          <a:custGeom>
            <a:avLst/>
            <a:gdLst/>
            <a:ahLst/>
            <a:cxnLst/>
            <a:rect l="l" t="t" r="r" b="b"/>
            <a:pathLst>
              <a:path w="4432300" h="546100">
                <a:moveTo>
                  <a:pt x="95250" y="0"/>
                </a:moveTo>
                <a:lnTo>
                  <a:pt x="4337050" y="0"/>
                </a:lnTo>
                <a:arcTo wR="95250" hR="95250" stAng="16200000" swAng="5400000"/>
                <a:lnTo>
                  <a:pt x="4432300" y="450850"/>
                </a:lnTo>
                <a:arcTo wR="95250" hR="95250" stAng="0" swAng="5400000"/>
                <a:lnTo>
                  <a:pt x="95250" y="546100"/>
                </a:lnTo>
                <a:arcTo wR="95250" hR="95250" stAng="5400000" swAng="5400000"/>
                <a:lnTo>
                  <a:pt x="0" y="95250"/>
                </a:lnTo>
                <a:arcTo wR="95250" hR="95250" stAng="10800000" swAng="5400000"/>
                <a:close/>
              </a:path>
            </a:pathLst>
          </a:custGeom>
          <a:solidFill>
            <a:srgbClr val="FBFAF7"/>
          </a:solidFill>
          <a:ln w="12700">
            <a:solidFill>
              <a:srgbClr val="DCD8CE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4208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cadastrar_produto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4054282"/>
            <a:ext cx="45783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5160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BASE · PRIMEIRA AÇÃO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7375" y="1834455"/>
            <a:ext cx="5708650" cy="1136551"/>
          </a:xfrm>
          <a:prstGeom prst="roundRect">
            <a:avLst>
              <a:gd name="adj" fmla="val 10895"/>
            </a:avLst>
          </a:prstGeom>
          <a:solidFill>
            <a:srgbClr val="FBFAF7"/>
          </a:solidFill>
          <a:ln w="6350">
            <a:solidFill>
              <a:srgbClr val="DCD8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73750" y="2015430"/>
            <a:ext cx="545477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160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Empilhar (push): registra a ação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7375" y="3104356"/>
            <a:ext cx="5708650" cy="1859497"/>
          </a:xfrm>
          <a:prstGeom prst="roundRect">
            <a:avLst>
              <a:gd name="adj" fmla="val 10895"/>
            </a:avLst>
          </a:prstGeom>
          <a:solidFill>
            <a:srgbClr val="FBFAF7"/>
          </a:solidFill>
          <a:ln w="6350">
            <a:solidFill>
              <a:srgbClr val="DCD8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73750" y="3285331"/>
            <a:ext cx="545477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160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Desempilhar (pop): remove a última ação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784596" y="5064126"/>
            <a:ext cx="5715000" cy="1115020"/>
          </a:xfrm>
          <a:prstGeom prst="roundRect">
            <a:avLst>
              <a:gd name="adj" fmla="val 11390"/>
            </a:avLst>
          </a:prstGeom>
          <a:solidFill>
            <a:srgbClr val="0B6E60"/>
          </a:solidFill>
          <a:ln/>
        </p:spPr>
      </p:sp>
      <p:sp>
        <p:nvSpPr>
          <p:cNvPr id="16" name="Text 14"/>
          <p:cNvSpPr/>
          <p:nvPr/>
        </p:nvSpPr>
        <p:spPr>
          <a:xfrm>
            <a:off x="5860669" y="5101729"/>
            <a:ext cx="5467858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5F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LIFO · Last In, First Out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873750" y="5523834"/>
            <a:ext cx="546785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5F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última ação registrada é a primeira a ser removida.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ERP Distribuidora · Sistema de Gerenciamento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160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 / 11</a:t>
            </a:r>
            <a:endParaRPr lang="en-US" sz="1200" dirty="0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C4177048-0082-26D4-2E14-8187E749E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3750" y="2337259"/>
            <a:ext cx="2981741" cy="533474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E1E57482-96DD-22A4-6C18-77C72AC655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3750" y="3591612"/>
            <a:ext cx="3629532" cy="1219370"/>
          </a:xfrm>
          <a:prstGeom prst="rect">
            <a:avLst/>
          </a:prstGeom>
        </p:spPr>
      </p:pic>
      <p:sp>
        <p:nvSpPr>
          <p:cNvPr id="24" name="Text 6">
            <a:extLst>
              <a:ext uri="{FF2B5EF4-FFF2-40B4-BE49-F238E27FC236}">
                <a16:creationId xmlns:a16="http://schemas.microsoft.com/office/drawing/2014/main" id="{28DD6F9B-E119-8401-8A14-3A1128AF8A06}"/>
              </a:ext>
            </a:extLst>
          </p:cNvPr>
          <p:cNvSpPr/>
          <p:nvPr/>
        </p:nvSpPr>
        <p:spPr>
          <a:xfrm>
            <a:off x="128073" y="4642001"/>
            <a:ext cx="45783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5160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EXEMPLO NO CÓDIGO</a:t>
            </a:r>
            <a:endParaRPr lang="en-US" sz="1300" dirty="0"/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9CE93CE9-8D33-136D-C9AA-032BF9C4D8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73" y="4928939"/>
            <a:ext cx="4982270" cy="7906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HISTÓRICO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50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Desfazer a última ação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5975" y="1834455"/>
            <a:ext cx="5073650" cy="2423914"/>
          </a:xfrm>
          <a:prstGeom prst="roundRect">
            <a:avLst>
              <a:gd name="adj" fmla="val 5108"/>
            </a:avLst>
          </a:prstGeom>
          <a:solidFill>
            <a:srgbClr val="16263D"/>
          </a:solidFill>
          <a:ln w="6350">
            <a:solidFill>
              <a:srgbClr val="2A3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066230"/>
            <a:ext cx="469607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F93A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desfazer_acao()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3150" y="2317651"/>
            <a:ext cx="469607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2A54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def</a:t>
            </a:r>
            <a:r>
              <a:rPr lang="en-US" sz="14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400" dirty="0">
                <a:solidFill>
                  <a:srgbClr val="8F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desfazer_acao</a:t>
            </a:r>
            <a:r>
              <a:rPr lang="en-US" sz="14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(historico):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7150" y="2604591"/>
            <a:ext cx="443445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2A54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</a:t>
            </a:r>
            <a:r>
              <a:rPr lang="en-US" sz="14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historico == []: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81150" y="2891532"/>
            <a:ext cx="417283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print(</a:t>
            </a:r>
            <a:r>
              <a:rPr lang="en-US" sz="1400" dirty="0">
                <a:solidFill>
                  <a:srgbClr val="7FD6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"Não há ações para desfazer"</a:t>
            </a:r>
            <a:r>
              <a:rPr lang="en-US" sz="14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7150" y="3178473"/>
            <a:ext cx="443445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2A54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</a:t>
            </a:r>
            <a:r>
              <a:rPr lang="en-US" sz="14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73150" y="3465413"/>
            <a:ext cx="4559300" cy="274241"/>
          </a:xfrm>
          <a:prstGeom prst="roundRect">
            <a:avLst>
              <a:gd name="adj" fmla="val 18524"/>
            </a:avLst>
          </a:prstGeom>
          <a:solidFill>
            <a:srgbClr val="F2A541">
              <a:alpha val="18000"/>
            </a:srgbClr>
          </a:solidFill>
          <a:ln/>
        </p:spPr>
        <p:txBody>
          <a:bodyPr wrap="square" lIns="569321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2A54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remocao = historico.pop()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81150" y="3777754"/>
            <a:ext cx="417283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print(f</a:t>
            </a:r>
            <a:r>
              <a:rPr lang="en-US" sz="1400" dirty="0">
                <a:solidFill>
                  <a:srgbClr val="7FD6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"Ação removida {remocao}"</a:t>
            </a:r>
            <a:r>
              <a:rPr lang="en-US" sz="1400" dirty="0">
                <a:solidFill>
                  <a:srgbClr val="E6ED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99200" y="1831280"/>
            <a:ext cx="52324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9B7C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Efeito de um desfazer na pilha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99200" y="2257921"/>
            <a:ext cx="253771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Antes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5550" y="2563912"/>
            <a:ext cx="2451100" cy="393700"/>
          </a:xfrm>
          <a:custGeom>
            <a:avLst/>
            <a:gdLst/>
            <a:ahLst/>
            <a:cxnLst/>
            <a:rect l="l" t="t" r="r" b="b"/>
            <a:pathLst>
              <a:path w="2451100" h="393700">
                <a:moveTo>
                  <a:pt x="69850" y="0"/>
                </a:moveTo>
                <a:lnTo>
                  <a:pt x="2381250" y="0"/>
                </a:lnTo>
                <a:arcTo wR="69850" hR="69850" stAng="16200000" swAng="5400000"/>
                <a:lnTo>
                  <a:pt x="2451100" y="323850"/>
                </a:lnTo>
                <a:arcTo wR="69850" hR="69850" stAng="0" swAng="5400000"/>
                <a:lnTo>
                  <a:pt x="69850" y="393700"/>
                </a:lnTo>
                <a:arcTo wR="69850" hR="69850" stAng="5400000" swAng="5400000"/>
                <a:lnTo>
                  <a:pt x="0" y="69850"/>
                </a:lnTo>
                <a:arcTo wR="69850" hR="69850" stAng="10800000" swAng="5400000"/>
                <a:close/>
              </a:path>
            </a:pathLst>
          </a:cu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2996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processar_pedido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5550" y="3021112"/>
            <a:ext cx="2451100" cy="393700"/>
          </a:xfrm>
          <a:custGeom>
            <a:avLst/>
            <a:gdLst/>
            <a:ahLst/>
            <a:cxnLst/>
            <a:rect l="l" t="t" r="r" b="b"/>
            <a:pathLst>
              <a:path w="2451100" h="393700">
                <a:moveTo>
                  <a:pt x="69850" y="0"/>
                </a:moveTo>
                <a:lnTo>
                  <a:pt x="2381250" y="0"/>
                </a:lnTo>
                <a:arcTo wR="69850" hR="69850" stAng="16200000" swAng="5400000"/>
                <a:lnTo>
                  <a:pt x="2451100" y="323850"/>
                </a:lnTo>
                <a:arcTo wR="69850" hR="69850" stAng="0" swAng="5400000"/>
                <a:lnTo>
                  <a:pt x="69850" y="393700"/>
                </a:lnTo>
                <a:arcTo wR="69850" hR="69850" stAng="5400000" swAng="5400000"/>
                <a:lnTo>
                  <a:pt x="0" y="69850"/>
                </a:lnTo>
                <a:arcTo wR="69850" hR="69850" stAng="10800000" swAng="5400000"/>
                <a:close/>
              </a:path>
            </a:pathLst>
          </a:custGeom>
          <a:solidFill>
            <a:srgbClr val="16263D"/>
          </a:solidFill>
          <a:ln w="12700">
            <a:solidFill>
              <a:srgbClr val="2A3F5E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2996"/>
              </a:lnSpc>
              <a:buNone/>
            </a:pPr>
            <a:r>
              <a:rPr lang="en-US" sz="14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cadastrar_pedido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5550" y="3478312"/>
            <a:ext cx="2451100" cy="393700"/>
          </a:xfrm>
          <a:custGeom>
            <a:avLst/>
            <a:gdLst/>
            <a:ahLst/>
            <a:cxnLst/>
            <a:rect l="l" t="t" r="r" b="b"/>
            <a:pathLst>
              <a:path w="2451100" h="393700">
                <a:moveTo>
                  <a:pt x="69850" y="0"/>
                </a:moveTo>
                <a:lnTo>
                  <a:pt x="2381250" y="0"/>
                </a:lnTo>
                <a:arcTo wR="69850" hR="69850" stAng="16200000" swAng="5400000"/>
                <a:lnTo>
                  <a:pt x="2451100" y="323850"/>
                </a:lnTo>
                <a:arcTo wR="69850" hR="69850" stAng="0" swAng="5400000"/>
                <a:lnTo>
                  <a:pt x="69850" y="393700"/>
                </a:lnTo>
                <a:arcTo wR="69850" hR="69850" stAng="5400000" swAng="5400000"/>
                <a:lnTo>
                  <a:pt x="0" y="69850"/>
                </a:lnTo>
                <a:arcTo wR="69850" hR="69850" stAng="10800000" swAng="5400000"/>
                <a:close/>
              </a:path>
            </a:pathLst>
          </a:custGeom>
          <a:solidFill>
            <a:srgbClr val="16263D"/>
          </a:solidFill>
          <a:ln w="12700">
            <a:solidFill>
              <a:srgbClr val="2A3F5E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2996"/>
              </a:lnSpc>
              <a:buNone/>
            </a:pPr>
            <a:r>
              <a:rPr lang="en-US" sz="14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cadastrar_produto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915400" y="2257921"/>
            <a:ext cx="253771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Depois do pop()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21750" y="2563912"/>
            <a:ext cx="2451100" cy="393700"/>
          </a:xfrm>
          <a:custGeom>
            <a:avLst/>
            <a:gdLst/>
            <a:ahLst/>
            <a:cxnLst/>
            <a:rect l="l" t="t" r="r" b="b"/>
            <a:pathLst>
              <a:path w="2451100" h="393700">
                <a:moveTo>
                  <a:pt x="69850" y="0"/>
                </a:moveTo>
                <a:lnTo>
                  <a:pt x="2381250" y="0"/>
                </a:lnTo>
                <a:arcTo wR="69850" hR="69850" stAng="16200000" swAng="5400000"/>
                <a:lnTo>
                  <a:pt x="2451100" y="323850"/>
                </a:lnTo>
                <a:arcTo wR="69850" hR="69850" stAng="0" swAng="5400000"/>
                <a:lnTo>
                  <a:pt x="69850" y="393700"/>
                </a:lnTo>
                <a:arcTo wR="69850" hR="69850" stAng="5400000" swAng="5400000"/>
                <a:lnTo>
                  <a:pt x="0" y="69850"/>
                </a:lnTo>
                <a:arcTo wR="69850" hR="69850" stAng="10800000" swAng="5400000"/>
                <a:close/>
              </a:path>
            </a:pathLst>
          </a:cu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2996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cadastrar_pedido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21750" y="3021112"/>
            <a:ext cx="2451100" cy="393700"/>
          </a:xfrm>
          <a:custGeom>
            <a:avLst/>
            <a:gdLst/>
            <a:ahLst/>
            <a:cxnLst/>
            <a:rect l="l" t="t" r="r" b="b"/>
            <a:pathLst>
              <a:path w="2451100" h="393700">
                <a:moveTo>
                  <a:pt x="69850" y="0"/>
                </a:moveTo>
                <a:lnTo>
                  <a:pt x="2381250" y="0"/>
                </a:lnTo>
                <a:arcTo wR="69850" hR="69850" stAng="16200000" swAng="5400000"/>
                <a:lnTo>
                  <a:pt x="2451100" y="323850"/>
                </a:lnTo>
                <a:arcTo wR="69850" hR="69850" stAng="0" swAng="5400000"/>
                <a:lnTo>
                  <a:pt x="69850" y="393700"/>
                </a:lnTo>
                <a:arcTo wR="69850" hR="69850" stAng="5400000" swAng="5400000"/>
                <a:lnTo>
                  <a:pt x="0" y="69850"/>
                </a:lnTo>
                <a:arcTo wR="69850" hR="69850" stAng="10800000" swAng="5400000"/>
                <a:close/>
              </a:path>
            </a:pathLst>
          </a:custGeom>
          <a:solidFill>
            <a:srgbClr val="16263D"/>
          </a:solidFill>
          <a:ln w="12700">
            <a:solidFill>
              <a:srgbClr val="2A3F5E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2996"/>
              </a:lnSpc>
              <a:buNone/>
            </a:pPr>
            <a:r>
              <a:rPr lang="en-US" sz="14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cadastrar_produto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18250" y="4056162"/>
            <a:ext cx="0" cy="800100"/>
          </a:xfrm>
          <a:prstGeom prst="line">
            <a:avLst/>
          </a:prstGeom>
          <a:noFill/>
          <a:ln w="38100">
            <a:solidFill>
              <a:srgbClr val="F2A5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89700" y="4056162"/>
            <a:ext cx="5036185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2EF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pop() remove o elemento do topo (o destacado em Antes): a última ação registrada. É o funcionamento de uma pilha.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DA0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ERP Distribuidora · Sistema de Gerenciamento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DA0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/ 11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A5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549598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RESUMO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940719"/>
            <a:ext cx="4185920" cy="61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620"/>
              </a:lnSpc>
              <a:buNone/>
            </a:pPr>
            <a:r>
              <a:rPr lang="en-US" sz="4400" b="1" i="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Conclusão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800" y="2705199"/>
            <a:ext cx="4185920" cy="932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Um ERP simples em Python que coloca em prática as estruturas de dados e os algoritmos vistos na disciplina.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3789660"/>
            <a:ext cx="4185920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Próximos passos:</a:t>
            </a:r>
            <a:r>
              <a:rPr lang="en-US" sz="140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desfazer que também reverte o estoque, validação das entradas e gravação dos dados em arquivo.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4713982"/>
            <a:ext cx="418592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Obrigado! Perguntas?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95900" y="2095500"/>
          <a:ext cx="6083300" cy="2476500"/>
        </p:xfrm>
        <a:graphic>
          <a:graphicData uri="http://schemas.openxmlformats.org/drawingml/2006/table">
            <a:tbl>
              <a:tblPr/>
              <a:tblGrid>
                <a:gridCol w="2433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9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0F1B2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Conceito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7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7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99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0F1B2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 projeto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37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7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7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99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Listas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7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7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7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9A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estoque, pedidos, histórico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37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7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7C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7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9A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Bubble Sort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7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ordenar_estoque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7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Busca binária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7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7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9A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buscar_produto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37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7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7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9A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Fila de prioridade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7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pedidos_prioridade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7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Pilha (LIFO)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7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7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9A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historico, desfazer_acao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37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7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85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7D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9A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ERP Distribuidora · Sistema de Gerenciamento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 / 11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RP Distribuidora">
  <a:themeElements>
    <a:clrScheme name="ERP Distribuidora">
      <a:dk1>
        <a:srgbClr val="0F1B2D"/>
      </a:dk1>
      <a:lt1>
        <a:srgbClr val="F2EFE8"/>
      </a:lt1>
      <a:dk2>
        <a:srgbClr val="263040"/>
      </a:dk2>
      <a:lt2>
        <a:srgbClr val="B9BAB9"/>
      </a:lt2>
      <a:accent1>
        <a:srgbClr val="51607A"/>
      </a:accent1>
      <a:accent2>
        <a:srgbClr val="F2A541"/>
      </a:accent2>
      <a:accent3>
        <a:srgbClr val="3CC4AE"/>
      </a:accent3>
      <a:accent4>
        <a:srgbClr val="0B6E60"/>
      </a:accent4>
      <a:accent5>
        <a:srgbClr val="8DA0B8"/>
      </a:accent5>
      <a:accent6>
        <a:srgbClr val="7F93AD"/>
      </a:accent6>
      <a:hlink>
        <a:srgbClr val="0563C1"/>
      </a:hlink>
      <a:folHlink>
        <a:srgbClr val="954F72"/>
      </a:folHlink>
    </a:clrScheme>
    <a:fontScheme name="ERP Distribuidora">
      <a:majorFont>
        <a:latin typeface="DM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2249</Words>
  <Application>Microsoft Office PowerPoint</Application>
  <PresentationFormat>Widescreen</PresentationFormat>
  <Paragraphs>255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Arial</vt:lpstr>
      <vt:lpstr>Calibri</vt:lpstr>
      <vt:lpstr>DM Sans</vt:lpstr>
      <vt:lpstr>JetBrains Mono</vt:lpstr>
      <vt:lpstr>ERP Distribuidora</vt:lpstr>
      <vt:lpstr>Sistema de Gerenciamento de Distribuidora</vt:lpstr>
      <vt:lpstr>Objetivo do sistema</vt:lpstr>
      <vt:lpstr>Funcionalidades</vt:lpstr>
      <vt:lpstr>Cadastro e controle do estoque</vt:lpstr>
      <vt:lpstr>Ordenação com Bubble Sort</vt:lpstr>
      <vt:lpstr>Busca binária</vt:lpstr>
      <vt:lpstr>Fila de pedidos com prioridade</vt:lpstr>
      <vt:lpstr>Processamento do pedido</vt:lpstr>
      <vt:lpstr>Pilha: histórico de ações</vt:lpstr>
      <vt:lpstr>Desfazer a última ação</vt:lpstr>
      <vt:lpstr>Conclusão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ERP Distribuidora</dc:title>
  <dc:subject/>
  <dc:creator/>
  <cp:lastModifiedBy>Luan Gabriel Rocha</cp:lastModifiedBy>
  <cp:revision>2</cp:revision>
  <dcterms:created xsi:type="dcterms:W3CDTF">2026-10-05T01:16:41Z</dcterms:created>
  <dcterms:modified xsi:type="dcterms:W3CDTF">2026-10-05T01:58:39Z</dcterms:modified>
</cp:coreProperties>
</file>